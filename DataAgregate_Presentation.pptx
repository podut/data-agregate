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772400" y="-457200"/>
            <a:ext cx="4572000" cy="4572000"/>
          </a:xfrm>
          <a:prstGeom prst="ellipse">
            <a:avLst/>
          </a:prstGeom>
          <a:solidFill>
            <a:srgbClr val="3D1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686800" y="1828800"/>
            <a:ext cx="2286000" cy="2286000"/>
          </a:xfrm>
          <a:prstGeom prst="ellipse">
            <a:avLst/>
          </a:prstGeom>
          <a:solidFill>
            <a:srgbClr val="1A0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7315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</a:rPr>
              <a:t>DataAgregate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8A2BE2"/>
                </a:solidFill>
              </a:rPr>
              <a:t>PRO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8888A0"/>
                </a:solidFill>
              </a:rPr>
              <a:t>Personalized AI-Powered News Aggregation Platform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99" y="4754880"/>
            <a:ext cx="857955" cy="292608"/>
          </a:xfrm>
          <a:prstGeom prst="rect">
            <a:avLst/>
          </a:prstGeom>
          <a:solidFill>
            <a:srgbClr val="3D1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1" y="4773168"/>
            <a:ext cx="7056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B19CD9"/>
                </a:solidFill>
              </a:rPr>
              <a:t>FastAPI</a:t>
            </a:r>
            <a:endParaRPr sz="1200" b="1" i="0" dirty="0">
              <a:solidFill>
                <a:srgbClr val="B19CD9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869948" y="4754880"/>
            <a:ext cx="771652" cy="292608"/>
          </a:xfrm>
          <a:prstGeom prst="rect">
            <a:avLst/>
          </a:prstGeom>
          <a:solidFill>
            <a:srgbClr val="3D1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43099" y="4773168"/>
            <a:ext cx="7619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B19CD9"/>
                </a:solidFill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7771" y="4754880"/>
            <a:ext cx="1116865" cy="292608"/>
          </a:xfrm>
          <a:prstGeom prst="rect">
            <a:avLst/>
          </a:prstGeom>
          <a:solidFill>
            <a:srgbClr val="3D1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20923" y="4773168"/>
            <a:ext cx="96456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19CD9"/>
                </a:solidFill>
              </a:rPr>
              <a:t>PostgreSQL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6490" y="4754880"/>
            <a:ext cx="685349" cy="292608"/>
          </a:xfrm>
          <a:prstGeom prst="rect">
            <a:avLst/>
          </a:prstGeom>
          <a:solidFill>
            <a:srgbClr val="3D1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09643" y="4773168"/>
            <a:ext cx="53304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19CD9"/>
                </a:solidFill>
              </a:rPr>
              <a:t>Redis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4754880"/>
            <a:ext cx="1030562" cy="292608"/>
          </a:xfrm>
          <a:prstGeom prst="rect">
            <a:avLst/>
          </a:prstGeom>
          <a:solidFill>
            <a:srgbClr val="3D1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09744" y="4773168"/>
            <a:ext cx="87826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19CD9"/>
                </a:solidFill>
              </a:rPr>
              <a:t>Gemini 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47587" y="4754880"/>
            <a:ext cx="857955" cy="292608"/>
          </a:xfrm>
          <a:prstGeom prst="rect">
            <a:avLst/>
          </a:prstGeom>
          <a:solidFill>
            <a:srgbClr val="3D1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20739" y="4773168"/>
            <a:ext cx="705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19CD9"/>
                </a:solidFill>
              </a:rPr>
              <a:t>Android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03135" y="4754880"/>
            <a:ext cx="1548381" cy="292608"/>
          </a:xfrm>
          <a:prstGeom prst="rect">
            <a:avLst/>
          </a:prstGeom>
          <a:solidFill>
            <a:srgbClr val="3D1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76287" y="4773168"/>
            <a:ext cx="139608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19CD9"/>
                </a:solidFill>
              </a:rPr>
              <a:t>Jetpack Compose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80475" y="4754880"/>
            <a:ext cx="771652" cy="292608"/>
          </a:xfrm>
          <a:prstGeom prst="rect">
            <a:avLst/>
          </a:prstGeom>
          <a:solidFill>
            <a:srgbClr val="3D1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3627" y="4773168"/>
            <a:ext cx="8579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19CD9"/>
                </a:solidFill>
              </a:rPr>
              <a:t>Docker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3093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8888A0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A0"/>
                </a:solidFill>
              </a:rPr>
              <a:t>End-to-end flow from RSS sources to the user's personalized feed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3108960" cy="34747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10896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RSS Sources / SERP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8888A0"/>
                </a:solidFill>
              </a:rPr>
              <a:t>▸  arstechnica.com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008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▸  wired.com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6557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▸  bbc.com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410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▸  techcrunch.com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165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▸  + Google News RSS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371600"/>
            <a:ext cx="3657600" cy="4114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0" y="1371600"/>
            <a:ext cx="3657600" cy="54864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09160" y="15087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Backend  (FastAPI)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0574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▸  Ingest &amp; Dedup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53288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▸  AI Enrichment (Gemini)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008376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▸  Feed Ranking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483864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8888A0"/>
                </a:solidFill>
              </a:rPr>
              <a:t>▸  Redis Cache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95935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▸  PostgreSQL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0" y="1828800"/>
            <a:ext cx="3108960" cy="34747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778240" y="1828800"/>
            <a:ext cx="310896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15400" y="19659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Android App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19" y="2514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▸  Onboarding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19" y="299008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▸  For You Feed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19" y="346557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▸  Trending Now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19" y="39410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▸  Saved Articles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19" y="44165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▸  Settings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32004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8A2BE2"/>
                </a:solidFill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2004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2C55E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Backend — 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651760" cy="24688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2651760" cy="54864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3443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FastAPI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Async REST API
Auto OpenAPI docs
Pydantic v2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097280"/>
            <a:ext cx="2651760" cy="24688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383280" y="1097280"/>
            <a:ext cx="265176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20440" y="123443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78308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Primary database
Connection pool (2–20)
Full-text indexes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097280"/>
            <a:ext cx="2651760" cy="24688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60" y="1097280"/>
            <a:ext cx="26517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23443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Redis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8308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Digest cache
Rate limiting
URL dedup (ZADD)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1097280"/>
            <a:ext cx="2651760" cy="24688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35440" y="1097280"/>
            <a:ext cx="265176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72600" y="123443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Docker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178308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Multi-stage build
docker-compose
Healthcheck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31920"/>
            <a:ext cx="2651760" cy="24688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931920"/>
            <a:ext cx="265176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40690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APScheduler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61772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Sync every N hours
Daily cleanup 03:00
Async jobs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3931920"/>
            <a:ext cx="2651760" cy="24688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3931920"/>
            <a:ext cx="265176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20440" y="40690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feedparser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61772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RSS / Atom parsing
asyncio.to_thread
Title dedup MD5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931920"/>
            <a:ext cx="2651760" cy="24688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09360" y="3931920"/>
            <a:ext cx="2651760" cy="54864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40690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Gemini 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61772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Article enrichment
Score 0–100
Category + Tags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40" y="3931920"/>
            <a:ext cx="2651760" cy="24688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235440" y="3931920"/>
            <a:ext cx="265176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372600" y="40690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httpx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2600" y="461772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Async HTTP client
SERP fallback
Image scraping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Backend — API Endpoints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461772" cy="2926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30352" y="1225296"/>
            <a:ext cx="4500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188720"/>
            <a:ext cx="3657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/digest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36192"/>
            <a:ext cx="411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Personalized feed + seen filtering + Redis cache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84248"/>
            <a:ext cx="461772" cy="2926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0352" y="2002536"/>
            <a:ext cx="4500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65960"/>
            <a:ext cx="3657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/trending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313432"/>
            <a:ext cx="411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Popular articles (device_seen COUNT DISTINCT)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61488"/>
            <a:ext cx="539496" cy="292608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2779776"/>
            <a:ext cx="5577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743200"/>
            <a:ext cx="3657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/articles/mark-seen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090672"/>
            <a:ext cx="411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Mark seen → update interest profile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38727"/>
            <a:ext cx="461772" cy="2926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3557015"/>
            <a:ext cx="4500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520439"/>
            <a:ext cx="3657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/articles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67911"/>
            <a:ext cx="411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Paginated article list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15968"/>
            <a:ext cx="461772" cy="2926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0352" y="4334255"/>
            <a:ext cx="4500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297680"/>
            <a:ext cx="3657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/categories/{cat}/articles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645152"/>
            <a:ext cx="411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Category-filtered articles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093207"/>
            <a:ext cx="461772" cy="2926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30352" y="5111495"/>
            <a:ext cx="4500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074920"/>
            <a:ext cx="3657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/articles/by-tag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422392"/>
            <a:ext cx="411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Tag-based search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207008"/>
            <a:ext cx="539496" cy="292608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73952" y="1225296"/>
            <a:ext cx="5577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1188720"/>
            <a:ext cx="3657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/profile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1536192"/>
            <a:ext cx="4389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Upsert user profile + invalidate cache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1984248"/>
            <a:ext cx="461772" cy="2926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73952" y="2002536"/>
            <a:ext cx="4500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1965960"/>
            <a:ext cx="3657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/profile/{deviceId}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2313432"/>
            <a:ext cx="4389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Get profile by device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761488"/>
            <a:ext cx="539496" cy="292608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73952" y="2779776"/>
            <a:ext cx="5577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2743200"/>
            <a:ext cx="3657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/categories/{cat}/feeds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090672"/>
            <a:ext cx="4389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Subscribe to RSS feed (shared global pool)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3538727"/>
            <a:ext cx="694944" cy="2926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73951" y="3557015"/>
            <a:ext cx="77329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DELETE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0" y="3520439"/>
            <a:ext cx="3657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/categories/{cat}/feeds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3760" y="3867911"/>
            <a:ext cx="4389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Unsubscribe from feed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315968"/>
            <a:ext cx="539496" cy="292608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73952" y="4334255"/>
            <a:ext cx="5577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97680"/>
            <a:ext cx="3657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/ingest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23760" y="4645152"/>
            <a:ext cx="4389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Trigger RSS + SERP ingest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5093207"/>
            <a:ext cx="461772" cy="29260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73952" y="5111495"/>
            <a:ext cx="4500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0" y="5074920"/>
            <a:ext cx="36576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/health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23760" y="5422392"/>
            <a:ext cx="4389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DB + Redis health check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Backend — Database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3200400" cy="2743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200400" cy="4572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pending_articles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id, title, url (UNIQUE)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category, raw_content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2316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source_name, image_url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83464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score (0–100), tags (JSON)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24612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processed, created_at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005840"/>
            <a:ext cx="3200400" cy="2743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320040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24528" y="10972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rss_feeds  ★ new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60020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id, url (UNIQUE)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201168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category, is_active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242316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last_fetched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4528" y="283464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→ global, no duplicates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79" y="1005840"/>
            <a:ext cx="3657600" cy="2743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98079" y="1005840"/>
            <a:ext cx="3657600" cy="457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807" y="10972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user_feed_subscriptions  ★ new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7807" y="16002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device_id, feed_id (PK)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7807" y="201168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is_active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7" y="24231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→ many-to-many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07807" y="283464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→ per-user toggle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840480"/>
            <a:ext cx="3200400" cy="2743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3840480"/>
            <a:ext cx="320040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3931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device_seen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43484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device_id, url (PK)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84632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seen_at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25780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→ TTL 7 days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66928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→ trending signal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0" y="3840480"/>
            <a:ext cx="3200400" cy="2743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114800" y="3840480"/>
            <a:ext cx="3200400" cy="4572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24528" y="3931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user_profile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443484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deviceId (PK), name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4528" y="484632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favoriteCategories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24528" y="525780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language, interestsScore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566928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lastActive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79" y="3840480"/>
            <a:ext cx="3200400" cy="2743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7498079" y="3840480"/>
            <a:ext cx="320040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07807" y="3931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category_config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07807" y="443484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category, device_id (PK)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07807" y="484632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serp_query, serp_region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07807" y="525780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serp_enabled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Backend — AI Enrichment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A0"/>
                </a:solidFill>
              </a:rPr>
              <a:t>Every article is enriched by AI before being served to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194560" cy="25603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219456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①  Raw Article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210312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title + raw_content
created_at, source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463040"/>
            <a:ext cx="2194560" cy="25603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651760" y="1463040"/>
            <a:ext cx="2194560" cy="54864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61488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②  AI Cascade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210312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Gemini 2.0 Flash
→ 1.5 Flash fallback
→ DeepSeek fallback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1463040"/>
            <a:ext cx="2194560" cy="25603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37760" y="1463040"/>
            <a:ext cx="219456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47488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③  Enriched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210312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score 0–100
category (1 word)
tags [3–5], summary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1463040"/>
            <a:ext cx="2194560" cy="25603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223760" y="1463040"/>
            <a:ext cx="21945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33488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④  Image Scrape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210312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OG image extraction
async parallel
with AI call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760" y="1463040"/>
            <a:ext cx="2194560" cy="25603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509760" y="1463040"/>
            <a:ext cx="219456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19488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⑤  DB Update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210312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UPDATE pending_articles
processed = 1
cache invalidated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2560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B19CD9"/>
                </a:solidFill>
              </a:rPr>
              <a:t>→  →  →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572000"/>
            <a:ext cx="11247120" cy="1920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4572000"/>
            <a:ext cx="11247120" cy="4572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4663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Adaptive Interest Profile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0749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update_interest_profile(device_id)  — called on every mark-seen 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440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19CD9"/>
                </a:solidFill>
              </a:rPr>
              <a:t>Reads 14-day device_seen history  →  ranks categories by opens  →  updates favoriteCategories  →  invalidates digest cache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Backend — Feed Ranking Algorithm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1828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4572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FeedRanker  (utils.py)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19CD9"/>
                </a:solidFill>
              </a:rPr>
              <a:t>final_score  =  base_score  +  recency_bonus  +  interest_boost  −  diversity_penalty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2194560" cy="5943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318211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A2BE2"/>
                </a:solidFill>
              </a:rPr>
              <a:t>base_score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318211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0–100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200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0"/>
                </a:solidFill>
              </a:rPr>
              <a:t>AI quality score assigned during enrichment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886200"/>
            <a:ext cx="2194560" cy="5943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95935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recency_bonus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95935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+0..+20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97763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0"/>
                </a:solidFill>
              </a:rPr>
              <a:t>Half-life 12h: new articles get max +20, decays exponentially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663440"/>
            <a:ext cx="2194560" cy="5943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473659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interest_boost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736592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+50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475487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0"/>
                </a:solidFill>
              </a:rPr>
              <a:t>Category matches user's favoriteCategories → +50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40679"/>
            <a:ext cx="2194560" cy="5943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5513831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F4444"/>
                </a:solidFill>
              </a:rPr>
              <a:t>diversity_penalty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513831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−5/art.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553211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0"/>
                </a:solidFill>
              </a:rPr>
              <a:t>Same category: −5 per extra article  |  Same source: −8 per extra article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Backend — Shared RSS Feed Pool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888A0"/>
                </a:solidFill>
              </a:rPr>
              <a:t>Multiple users subscribing to the same feed = fetched only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F4444"/>
                </a:solidFill>
              </a:rPr>
              <a:t>BEFORE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2C55E"/>
                </a:solidFill>
              </a:rPr>
              <a:t>AFTER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5029200" cy="43891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502920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rss_sources (url, category, device_id)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4144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UNIQUE(url, category, device_id)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16936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392424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User A adds arstechnica → 1 row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67912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User B adds arstechnica → 2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434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User C adds arstechnica → 3 rows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1888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5294376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Scheduler: fetches URL  ×3  ← WASTE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828800"/>
            <a:ext cx="5394960" cy="43891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0" y="1828800"/>
            <a:ext cx="5394960" cy="457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1965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rss_feeds (url UNIQUE)  +  user_feed_subscriptions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4144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291693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User A adds arstechnica → 1 row in rss_feeds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39242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                           + 1 row in subscriptions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6791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User B adds arstechnica → 0 new rows in rss_feeds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343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                           + 1 row in subscriptions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188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0" y="529437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Scheduler: SELECT DISTINCT → fetches URL  ×1  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77840" y="3749039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8A2BE2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Android — 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651760" cy="24688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2651760" cy="54864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3443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Jetpack Compose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100% declarative UI
Material3 components
Animations + gestures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097280"/>
            <a:ext cx="2651760" cy="24688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383280" y="1097280"/>
            <a:ext cx="265176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20440" y="123443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Hilt 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78308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Constructor injection
@HiltViewModel
@Named bindings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097280"/>
            <a:ext cx="2651760" cy="24688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9360" y="1097280"/>
            <a:ext cx="265176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23443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Ktor Client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8308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Async HTTP
Kotlin Serialization
JSON deserialization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1097280"/>
            <a:ext cx="2651760" cy="24688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235440" y="1097280"/>
            <a:ext cx="26517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72600" y="1234439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Room 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178308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Local persistence
Flow-based queries
Offline support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31920"/>
            <a:ext cx="2651760" cy="24688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931920"/>
            <a:ext cx="265176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40690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DataStore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61772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Onboarding state
Device UUID
Preferences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3931920"/>
            <a:ext cx="2651760" cy="24688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3931920"/>
            <a:ext cx="265176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20440" y="40690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Coil3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61772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Async image loading
Shimmer placeholder
Caching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931920"/>
            <a:ext cx="2651760" cy="24688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09360" y="3931920"/>
            <a:ext cx="2651760" cy="54864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40690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Navigation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61772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Type-safe routes
Backstack management
Deep links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40" y="3931920"/>
            <a:ext cx="2651760" cy="24688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235440" y="3931920"/>
            <a:ext cx="265176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372600" y="40690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StateFlow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2600" y="461772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Reactive UI state
viewModelScope
collectAsState()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Android — App Screens &amp;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2194560" cy="54864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2194560" cy="54864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Onboarding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2-step interest selection (16 categories)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1460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Language choice (Română / English)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UUID device ID (SharedPreferences)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51959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Sync profile to backend on complete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1206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Resettable from Settings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98064" y="1005840"/>
            <a:ext cx="2194560" cy="54864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798064" y="1005840"/>
            <a:ext cx="219456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89504" y="1051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News Feed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9504" y="16459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Hero Carousel — top 5 personalized 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251460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Pull-to-refresh gesture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9504" y="3383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Trending Now — horizontal row (social signal)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4251959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For You — filtered by interests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9504" y="51206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Session-based seen tracking (no premature marks)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38928" y="1005840"/>
            <a:ext cx="2194560" cy="54864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138928" y="1005840"/>
            <a:ext cx="219456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30368" y="1051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Explore / Categories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16459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Browse by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51460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Category articles 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383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Search across all content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79792" y="1005840"/>
            <a:ext cx="2194560" cy="54864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479792" y="1005840"/>
            <a:ext cx="21945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71231" y="1051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Saved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1231" y="16459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Bookmark any article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71231" y="251460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Room local persistence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71231" y="3383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Offline readable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20656" y="1005840"/>
            <a:ext cx="2194560" cy="54864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820656" y="1005840"/>
            <a:ext cx="219456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912096" y="1051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Settings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12096" y="164592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Dark / Light theme toggle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2096" y="251460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Language selector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12096" y="338328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Current interests chips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12096" y="4251959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Reset interests → onboarding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12096" y="51206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• Profile name edit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Android — Trending Now Feature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7315200" cy="3291840"/>
          </a:xfrm>
          <a:prstGeom prst="rect">
            <a:avLst/>
          </a:prstGeom>
          <a:solidFill>
            <a:srgbClr val="0D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731520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7040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B6D4"/>
                </a:solidFill>
              </a:rPr>
              <a:t>SELECT a.title, a.url, a.category, ...,
       COUNT(DISTINCT s.device_id) AS open_count
FROM pending_articles a
JOIN device_seen s ON a.url = s.url
WHERE a.image_url IS NOT NULL
  AND s.seen_at &gt;= NOW() - INTERVAL '48 hours'
GROUP BY a.id
ORDER BY open_count DESC, a.created_at DESC
LIMIT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1005840"/>
            <a:ext cx="3474720" cy="32918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0" y="1005840"/>
            <a:ext cx="347472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66760" y="10972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6002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▸  Counts distinct users who opened each article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14884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▸  48-hour rolling 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6974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▸  Excludes already-seen articles (per device)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32461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▸  Fallback to top AI score if &lt; 5 social results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79476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A0"/>
                </a:solidFill>
              </a:rPr>
              <a:t>▸  Refreshed on every pull-to-refresh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572000"/>
            <a:ext cx="11247120" cy="1920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572000"/>
            <a:ext cx="1124712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663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Android integration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NewsFeedViewModel.loadTrending()  →  GET /trending?deviceId=&amp;hours=48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406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19CD9"/>
                </a:solidFill>
              </a:rPr>
              <a:t>LazyRow  ←  TrendingCard (200dp wide, image + category chip + title + source)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Deployment — Docker Compose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657600" cy="32004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57600" cy="54864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data-agregate-api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2BE2"/>
                </a:solidFill>
              </a:rPr>
              <a:t>dataagregate-app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Port 8085
Python 3.11-slim
Multi-stage build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188720"/>
            <a:ext cx="3657600" cy="32004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80560" y="1188720"/>
            <a:ext cx="36576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720" y="1280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data-agregate-db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7830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B6D4"/>
                </a:solidFill>
              </a:rPr>
              <a:t>postgres:16-alpine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24028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Primary DB
ThreadedConnectionPool
2–20 connections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0" y="1188720"/>
            <a:ext cx="3657600" cy="32004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503920" y="1188720"/>
            <a:ext cx="365760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41080" y="1280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data-agregate-redis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17830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C55E"/>
                </a:solidFill>
              </a:rPr>
              <a:t>redis:7-alpine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224028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Digest cache
URL dedup ZADD
Rate limiting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920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572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6634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Startup sequence (lifespan)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1206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19CD9"/>
                </a:solidFill>
              </a:rPr>
              <a:t>init_pool()  →  init_db()  →  migrate_to_shared_feeds()  →  fix_missing_data()  →  scheduler.start()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88A0"/>
                </a:solidFill>
              </a:rPr>
              <a:t>Healthcheck: GET /health  →  DB ping + Redis ping + articles count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315200" y="-457200"/>
            <a:ext cx="5486400" cy="5486400"/>
          </a:xfrm>
          <a:prstGeom prst="ellipse">
            <a:avLst/>
          </a:prstGeom>
          <a:solidFill>
            <a:srgbClr val="3D1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DataAgregate 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19CD9"/>
                </a:solidFill>
              </a:rPr>
              <a:t>Built for scale. Personalized by AI. Shared by design.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971800"/>
            <a:ext cx="228600" cy="22860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92608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Shared RSS pool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92608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0"/>
                </a:solidFill>
              </a:rPr>
              <a:t>Zero duplication — same URL fetched once regardless of subscribers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566160"/>
            <a:ext cx="228600" cy="228600"/>
          </a:xfrm>
          <a:prstGeom prst="ellipse">
            <a:avLst/>
          </a:prstGeom>
          <a:solidFill>
            <a:srgbClr val="8A2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352044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AI-enriched articles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52044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0"/>
                </a:solidFill>
              </a:rPr>
              <a:t>Gemini cascade: score, category, tags, summary, translated title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160520"/>
            <a:ext cx="228600" cy="2286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1148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Adaptive interests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1148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0"/>
                </a:solidFill>
              </a:rPr>
              <a:t>Reading history → auto-updates favoriteCategories every mark-seen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754880"/>
            <a:ext cx="228600" cy="2286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470916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Trending social signal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7091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0"/>
                </a:solidFill>
              </a:rPr>
              <a:t>COUNT(DISTINCT device_id) on device_seen → popular articles surface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349240"/>
            <a:ext cx="228600" cy="2286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53035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Pull-to-refresh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3035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0"/>
                </a:solidFill>
              </a:rPr>
              <a:t>Native gesture → fresh digest + trending in one swipe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5943600"/>
            <a:ext cx="228600" cy="22860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51560" y="589788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Onboarding + reset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589788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88A0"/>
                </a:solidFill>
              </a:rPr>
              <a:t>Interest chips + language → persisted in DataStore + synced to backend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1404</Words>
  <Application>Microsoft Office PowerPoint</Application>
  <PresentationFormat>Custom</PresentationFormat>
  <Paragraphs>249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Podut</cp:lastModifiedBy>
  <cp:revision>2</cp:revision>
  <dcterms:created xsi:type="dcterms:W3CDTF">2013-01-27T09:14:16Z</dcterms:created>
  <dcterms:modified xsi:type="dcterms:W3CDTF">2026-05-17T20:05:25Z</dcterms:modified>
  <cp:category/>
</cp:coreProperties>
</file>