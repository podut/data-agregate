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135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8B48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 dirty="0" err="1">
                <a:solidFill>
                  <a:srgbClr val="FFFFFF"/>
                </a:solidFill>
                <a:latin typeface="Lato"/>
              </a:rPr>
              <a:t>DataAgregate</a:t>
            </a:r>
            <a:endParaRPr sz="6000" b="0" i="0" dirty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Lato"/>
              </a:rPr>
              <a:t>R A P O R T   F I N A L   —   E C O S I S T E M   C O M P L E 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36576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31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dirty="0">
                <a:solidFill>
                  <a:schemeClr val="bg1"/>
                </a:solidFill>
                <a:latin typeface="Comic Sans MS" panose="030F0702030302020204" pitchFamily="66" charset="0"/>
              </a:rPr>
              <a:t>Android · Kotlin · Jetpack Compose · </a:t>
            </a:r>
            <a:r>
              <a:rPr sz="1600" dirty="0" err="1">
                <a:solidFill>
                  <a:schemeClr val="bg1"/>
                </a:solidFill>
                <a:latin typeface="Comic Sans MS" panose="030F0702030302020204" pitchFamily="66" charset="0"/>
              </a:rPr>
              <a:t>FastAPI</a:t>
            </a:r>
            <a:r>
              <a:rPr sz="1600" dirty="0">
                <a:solidFill>
                  <a:schemeClr val="bg1"/>
                </a:solidFill>
                <a:latin typeface="Comic Sans MS" panose="030F0702030302020204" pitchFamily="66" charset="0"/>
              </a:rPr>
              <a:t> · Google Gemini 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17920"/>
            <a:ext cx="85313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CFFE0"/>
                </a:solidFill>
                <a:latin typeface="Lato"/>
              </a:rPr>
              <a:t>© 2026 — Design </a:t>
            </a:r>
            <a:r>
              <a:rPr lang="en-US" sz="1000" b="0" i="0" dirty="0">
                <a:solidFill>
                  <a:srgbClr val="CCFFE0"/>
                </a:solidFill>
                <a:latin typeface="Lato"/>
              </a:rPr>
              <a:t>Podut Petru / Podut Tania</a:t>
            </a:r>
            <a:endParaRPr sz="1000" b="0" i="0" dirty="0">
              <a:solidFill>
                <a:srgbClr val="CCFFE0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Lato"/>
              </a:rPr>
              <a:t>VIZIUNE DE ANSAMBLU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949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011680" cy="320040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71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Lato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Lato"/>
              </a:rPr>
              <a:t>rss-ingestor-service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37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latin typeface="Comic Sans MS" panose="030F0702030302020204" pitchFamily="66" charset="0"/>
              </a:rPr>
              <a:t>• </a:t>
            </a:r>
            <a:r>
              <a:rPr sz="1600" dirty="0" err="1">
                <a:latin typeface="Comic Sans MS" panose="030F0702030302020204" pitchFamily="66" charset="0"/>
              </a:rPr>
              <a:t>FastAPI</a:t>
            </a:r>
            <a:r>
              <a:rPr sz="1600" dirty="0">
                <a:latin typeface="Comic Sans MS" panose="030F0702030302020204" pitchFamily="66" charset="0"/>
              </a:rPr>
              <a:t> + Python 3.10+</a:t>
            </a:r>
          </a:p>
          <a:p>
            <a:pPr algn="l"/>
            <a:r>
              <a:rPr sz="1600" dirty="0">
                <a:latin typeface="Comic Sans MS" panose="030F0702030302020204" pitchFamily="66" charset="0"/>
              </a:rPr>
              <a:t>• </a:t>
            </a:r>
            <a:r>
              <a:rPr sz="1600" dirty="0" err="1">
                <a:latin typeface="Comic Sans MS" panose="030F0702030302020204" pitchFamily="66" charset="0"/>
              </a:rPr>
              <a:t>Colectare</a:t>
            </a:r>
            <a:r>
              <a:rPr sz="1600" dirty="0">
                <a:latin typeface="Comic Sans MS" panose="030F0702030302020204" pitchFamily="66" charset="0"/>
              </a:rPr>
              <a:t> </a:t>
            </a:r>
            <a:r>
              <a:rPr sz="1600" dirty="0" err="1">
                <a:latin typeface="Comic Sans MS" panose="030F0702030302020204" pitchFamily="66" charset="0"/>
              </a:rPr>
              <a:t>automată</a:t>
            </a:r>
            <a:r>
              <a:rPr sz="1600" dirty="0">
                <a:latin typeface="Comic Sans MS" panose="030F0702030302020204" pitchFamily="66" charset="0"/>
              </a:rPr>
              <a:t> RSS &amp; Google News</a:t>
            </a:r>
          </a:p>
          <a:p>
            <a:pPr algn="l"/>
            <a:r>
              <a:rPr sz="1600" dirty="0">
                <a:latin typeface="Comic Sans MS" panose="030F0702030302020204" pitchFamily="66" charset="0"/>
              </a:rPr>
              <a:t>• </a:t>
            </a:r>
            <a:r>
              <a:rPr sz="1600" dirty="0" err="1">
                <a:latin typeface="Comic Sans MS" panose="030F0702030302020204" pitchFamily="66" charset="0"/>
              </a:rPr>
              <a:t>Procesare</a:t>
            </a:r>
            <a:r>
              <a:rPr sz="1600" dirty="0">
                <a:latin typeface="Comic Sans MS" panose="030F0702030302020204" pitchFamily="66" charset="0"/>
              </a:rPr>
              <a:t> AI cu Google Gemini 2.5 Pro</a:t>
            </a:r>
          </a:p>
          <a:p>
            <a:pPr algn="l"/>
            <a:r>
              <a:rPr sz="1600" dirty="0">
                <a:latin typeface="Comic Sans MS" panose="030F0702030302020204" pitchFamily="66" charset="0"/>
              </a:rPr>
              <a:t>• </a:t>
            </a:r>
            <a:r>
              <a:rPr sz="1600" dirty="0" err="1">
                <a:latin typeface="Comic Sans MS" panose="030F0702030302020204" pitchFamily="66" charset="0"/>
              </a:rPr>
              <a:t>APScheduler</a:t>
            </a:r>
            <a:r>
              <a:rPr sz="1600" dirty="0">
                <a:latin typeface="Comic Sans MS" panose="030F0702030302020204" pitchFamily="66" charset="0"/>
              </a:rPr>
              <a:t> — jobs </a:t>
            </a:r>
            <a:r>
              <a:rPr sz="1600" dirty="0" err="1">
                <a:latin typeface="Comic Sans MS" panose="030F0702030302020204" pitchFamily="66" charset="0"/>
              </a:rPr>
              <a:t>periodice</a:t>
            </a:r>
            <a:endParaRPr sz="1600" dirty="0">
              <a:latin typeface="Comic Sans MS" panose="030F0702030302020204" pitchFamily="66" charset="0"/>
            </a:endParaRPr>
          </a:p>
          <a:p>
            <a:pPr algn="l"/>
            <a:r>
              <a:rPr sz="1600" dirty="0">
                <a:latin typeface="Comic Sans MS" panose="030F0702030302020204" pitchFamily="66" charset="0"/>
              </a:rPr>
              <a:t>• SQLite </a:t>
            </a:r>
            <a:r>
              <a:rPr sz="1600" dirty="0" err="1">
                <a:latin typeface="Comic Sans MS" panose="030F0702030302020204" pitchFamily="66" charset="0"/>
              </a:rPr>
              <a:t>pentru</a:t>
            </a:r>
            <a:r>
              <a:rPr sz="1600" dirty="0">
                <a:latin typeface="Comic Sans MS" panose="030F0702030302020204" pitchFamily="66" charset="0"/>
              </a:rPr>
              <a:t> </a:t>
            </a:r>
            <a:r>
              <a:rPr sz="1600" dirty="0" err="1">
                <a:latin typeface="Comic Sans MS" panose="030F0702030302020204" pitchFamily="66" charset="0"/>
              </a:rPr>
              <a:t>persistența</a:t>
            </a:r>
            <a:r>
              <a:rPr sz="1600" dirty="0">
                <a:latin typeface="Comic Sans MS" panose="030F0702030302020204" pitchFamily="66" charset="0"/>
              </a:rPr>
              <a:t> </a:t>
            </a:r>
            <a:r>
              <a:rPr sz="1600" dirty="0" err="1">
                <a:latin typeface="Comic Sans MS" panose="030F0702030302020204" pitchFamily="66" charset="0"/>
              </a:rPr>
              <a:t>articolelor</a:t>
            </a:r>
            <a:endParaRPr sz="1600" dirty="0">
              <a:latin typeface="Comic Sans MS" panose="030F0702030302020204" pitchFamily="66" charset="0"/>
            </a:endParaRPr>
          </a:p>
          <a:p>
            <a:pPr algn="l"/>
            <a:r>
              <a:rPr sz="1600" dirty="0">
                <a:latin typeface="Comic Sans MS" panose="030F0702030302020204" pitchFamily="66" charset="0"/>
              </a:rPr>
              <a:t>• </a:t>
            </a:r>
            <a:r>
              <a:rPr sz="1600" dirty="0" err="1">
                <a:latin typeface="Comic Sans MS" panose="030F0702030302020204" pitchFamily="66" charset="0"/>
              </a:rPr>
              <a:t>Sumarizare</a:t>
            </a:r>
            <a:r>
              <a:rPr sz="1600" dirty="0">
                <a:latin typeface="Comic Sans MS" panose="030F0702030302020204" pitchFamily="66" charset="0"/>
              </a:rPr>
              <a:t> </a:t>
            </a:r>
            <a:r>
              <a:rPr sz="1600" dirty="0" err="1">
                <a:latin typeface="Comic Sans MS" panose="030F0702030302020204" pitchFamily="66" charset="0"/>
              </a:rPr>
              <a:t>în</a:t>
            </a:r>
            <a:r>
              <a:rPr sz="1600" dirty="0">
                <a:latin typeface="Comic Sans MS" panose="030F0702030302020204" pitchFamily="66" charset="0"/>
              </a:rPr>
              <a:t> </a:t>
            </a:r>
            <a:r>
              <a:rPr sz="1600" dirty="0" err="1">
                <a:latin typeface="Comic Sans MS" panose="030F0702030302020204" pitchFamily="66" charset="0"/>
              </a:rPr>
              <a:t>română</a:t>
            </a:r>
            <a:r>
              <a:rPr sz="1600" dirty="0">
                <a:latin typeface="Comic Sans MS" panose="030F0702030302020204" pitchFamily="66" charset="0"/>
              </a:rPr>
              <a:t> + AI Score (0-100</a:t>
            </a:r>
            <a:r>
              <a:rPr sz="1400" b="0" dirty="0">
                <a:latin typeface="Lato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394960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2011680" cy="320040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671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Lato"/>
              </a:rPr>
              <a:t>ANDROID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Lato"/>
              </a:rPr>
              <a:t>DataAgregate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4937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latin typeface="Comic Sans MS" panose="030F0702030302020204" pitchFamily="66" charset="0"/>
              </a:rPr>
              <a:t>• Kotlin + Jetpack Compose</a:t>
            </a:r>
          </a:p>
          <a:p>
            <a:r>
              <a:rPr sz="1600" dirty="0">
                <a:latin typeface="Comic Sans MS" panose="030F0702030302020204" pitchFamily="66" charset="0"/>
              </a:rPr>
              <a:t>• Material Design 3 + </a:t>
            </a:r>
            <a:r>
              <a:rPr sz="1600" dirty="0" err="1">
                <a:latin typeface="Comic Sans MS" panose="030F0702030302020204" pitchFamily="66" charset="0"/>
              </a:rPr>
              <a:t>teme</a:t>
            </a:r>
            <a:r>
              <a:rPr sz="1600" dirty="0">
                <a:latin typeface="Comic Sans MS" panose="030F0702030302020204" pitchFamily="66" charset="0"/>
              </a:rPr>
              <a:t> Dark/Light</a:t>
            </a:r>
          </a:p>
          <a:p>
            <a:r>
              <a:rPr sz="1600" dirty="0">
                <a:latin typeface="Comic Sans MS" panose="030F0702030302020204" pitchFamily="66" charset="0"/>
              </a:rPr>
              <a:t>• </a:t>
            </a:r>
            <a:r>
              <a:rPr sz="1600" dirty="0" err="1">
                <a:latin typeface="Comic Sans MS" panose="030F0702030302020204" pitchFamily="66" charset="0"/>
              </a:rPr>
              <a:t>Arhitectură</a:t>
            </a:r>
            <a:r>
              <a:rPr sz="1600" dirty="0">
                <a:latin typeface="Comic Sans MS" panose="030F0702030302020204" pitchFamily="66" charset="0"/>
              </a:rPr>
              <a:t> </a:t>
            </a:r>
            <a:r>
              <a:rPr sz="1600" dirty="0" err="1">
                <a:latin typeface="Comic Sans MS" panose="030F0702030302020204" pitchFamily="66" charset="0"/>
              </a:rPr>
              <a:t>modulară</a:t>
            </a:r>
            <a:r>
              <a:rPr sz="1600" dirty="0">
                <a:latin typeface="Comic Sans MS" panose="030F0702030302020204" pitchFamily="66" charset="0"/>
              </a:rPr>
              <a:t> (feature modules)</a:t>
            </a:r>
          </a:p>
          <a:p>
            <a:r>
              <a:rPr sz="1600" dirty="0">
                <a:latin typeface="Comic Sans MS" panose="030F0702030302020204" pitchFamily="66" charset="0"/>
              </a:rPr>
              <a:t>• Room Database — Offline First</a:t>
            </a:r>
          </a:p>
          <a:p>
            <a:r>
              <a:rPr sz="1600" dirty="0">
                <a:latin typeface="Comic Sans MS" panose="030F0702030302020204" pitchFamily="66" charset="0"/>
              </a:rPr>
              <a:t>• Retrofit — </a:t>
            </a:r>
            <a:r>
              <a:rPr sz="1600" dirty="0" err="1">
                <a:latin typeface="Comic Sans MS" panose="030F0702030302020204" pitchFamily="66" charset="0"/>
              </a:rPr>
              <a:t>comunicare</a:t>
            </a:r>
            <a:r>
              <a:rPr sz="1600" dirty="0">
                <a:latin typeface="Comic Sans MS" panose="030F0702030302020204" pitchFamily="66" charset="0"/>
              </a:rPr>
              <a:t> REST cu backend</a:t>
            </a:r>
          </a:p>
          <a:p>
            <a:r>
              <a:rPr sz="1600" dirty="0">
                <a:latin typeface="Comic Sans MS" panose="030F0702030302020204" pitchFamily="66" charset="0"/>
              </a:rPr>
              <a:t>• Hilt — Dependency Injection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Lato"/>
              </a:rPr>
              <a:t>STACK TEHNOLOGIC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566160" cy="73152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8B485"/>
                </a:solidFill>
                <a:latin typeface="Lato"/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55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Lato"/>
              </a:rPr>
              <a:t>Python 3.10+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Lato"/>
              </a:rPr>
              <a:t>FastAPI, feedparser, APScheduler, aiohttp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66160" cy="73152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8B485"/>
                </a:solidFill>
                <a:latin typeface="Lato"/>
              </a:rPr>
              <a:t>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755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Lato"/>
              </a:rPr>
              <a:t>Google Gemini 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Lato"/>
              </a:rPr>
              <a:t>Sumarizare &amp; scoring articole în română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554480"/>
            <a:ext cx="356616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566160" cy="73152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1719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8B485"/>
                </a:solidFill>
                <a:latin typeface="Lato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755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Lato"/>
              </a:rPr>
              <a:t>Kotlin + 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240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Lato"/>
              </a:rPr>
              <a:t>UI nativ, animații Material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356616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3566160" cy="73152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8B485"/>
                </a:solidFill>
                <a:latin typeface="Lato"/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041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Lato"/>
              </a:rPr>
              <a:t>SQLite / 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26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Lato"/>
              </a:rPr>
              <a:t>Persistență locală + sincronizare cloud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840480"/>
            <a:ext cx="356616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80" y="3840480"/>
            <a:ext cx="3566160" cy="73152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4005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8B485"/>
                </a:solidFill>
                <a:latin typeface="Lato"/>
              </a:rPr>
              <a:t>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041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Lato"/>
              </a:rPr>
              <a:t>Retrofit + OkHttp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526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Lato"/>
              </a:rPr>
              <a:t>Client REST cu caching &amp; interceptors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3840480"/>
            <a:ext cx="3566160" cy="201168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3840480"/>
            <a:ext cx="3566160" cy="73152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4005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8B485"/>
                </a:solidFill>
                <a:latin typeface="Lato"/>
              </a:rPr>
              <a:t>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041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Lato"/>
              </a:rPr>
              <a:t>Hilt 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5262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7777"/>
                </a:solidFill>
                <a:latin typeface="Lato"/>
              </a:rPr>
              <a:t>Injecție dependențe compile-time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135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Lato"/>
              </a:rPr>
              <a:t>CARACTERISTICI PRINCIPALE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743200" cy="50292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Lato"/>
              </a:rP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  <a:latin typeface="Lato"/>
              </a:rPr>
              <a:t>Performanță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546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77777"/>
                </a:solidFill>
                <a:latin typeface="Lato"/>
              </a:rPr>
              <a:t>FastAPI asigură latențe minime (&lt; 100ms) pentru toate apelurile REST de la aplicația mobilă.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743200" cy="50292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Lato"/>
              </a:rPr>
              <a:t>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  <a:latin typeface="Lato"/>
              </a:rPr>
              <a:t>AI 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1546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77777"/>
                </a:solidFill>
                <a:latin typeface="Lato"/>
              </a:rPr>
              <a:t>Sumarizare și scoring automat în română direct în backend via Google Gemini 2.5 Flash.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743200" cy="50292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0" y="17373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Lato"/>
              </a:rP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  <a:latin typeface="Lato"/>
              </a:rPr>
              <a:t>Offline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546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77777"/>
                </a:solidFill>
                <a:latin typeface="Lato"/>
              </a:rPr>
              <a:t>Room Database sincronizează articolele local — citire garantată fără conexiune internet.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371600"/>
            <a:ext cx="2743200" cy="5029200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17373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Lato"/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  <a:latin typeface="Lato"/>
              </a:rPr>
              <a:t>Modern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1546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77777"/>
                </a:solidFill>
                <a:latin typeface="Lato"/>
              </a:rPr>
              <a:t>Design Material 3 cu animații fluide, shimmer loading și suport complet Dark/Light.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Lato"/>
              </a:rPr>
              <a:t>ARHITECTURA MODULARĂ —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463040"/>
            <a:ext cx="3044952" cy="640080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508760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ato"/>
              </a:rPr>
              <a:t>:app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42316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3657600" cy="6350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B485"/>
                </a:solidFill>
                <a:latin typeface="Courier New"/>
              </a:rPr>
              <a:t>:feature:news_feed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07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Feed principal
Articole + AI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41648" y="242316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41648" y="2423160"/>
            <a:ext cx="3657600" cy="6350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33088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B485"/>
                </a:solidFill>
                <a:latin typeface="Courier New"/>
              </a:rPr>
              <a:t>:feature:article_reader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2807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Cititor articol
Rezumat AI + browser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08976" y="242316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08976" y="2423160"/>
            <a:ext cx="3657600" cy="6350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0416" y="2468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B485"/>
                </a:solidFill>
                <a:latin typeface="Courier New"/>
              </a:rPr>
              <a:t>:feature:explore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2807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Explorează
Categori &amp; filtre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5204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3520440"/>
            <a:ext cx="3657600" cy="6350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B485"/>
                </a:solidFill>
                <a:latin typeface="Courier New"/>
              </a:rPr>
              <a:t>:feature:saved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9044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Salvate
Offline First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1648" y="35204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041648" y="3520440"/>
            <a:ext cx="3657600" cy="6350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33088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B485"/>
                </a:solidFill>
                <a:latin typeface="Courier New"/>
              </a:rPr>
              <a:t>:feature:profile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8" y="39044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Setări
Temă + onboarding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08976" y="35204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08976" y="3520440"/>
            <a:ext cx="3657600" cy="6350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0416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B485"/>
                </a:solidFill>
                <a:latin typeface="Courier New"/>
              </a:rPr>
              <a:t>:feature:categories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39044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Categorii
Navigare detaliată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2651760" cy="594360"/>
          </a:xfrm>
          <a:prstGeom prst="rect">
            <a:avLst/>
          </a:prstGeom>
          <a:solidFill>
            <a:srgbClr val="E8FFF0"/>
          </a:solid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080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B485"/>
                </a:solidFill>
                <a:latin typeface="Courier New"/>
              </a:rPr>
              <a:t>:core:database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3095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Room DB, DAOs, Entities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5029200"/>
            <a:ext cx="2651760" cy="594360"/>
          </a:xfrm>
          <a:prstGeom prst="rect">
            <a:avLst/>
          </a:prstGeom>
          <a:solidFill>
            <a:srgbClr val="E8FFF0"/>
          </a:solid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66160" y="5080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B485"/>
                </a:solidFill>
                <a:latin typeface="Courier New"/>
              </a:rPr>
              <a:t>:core:domain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33095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Models, UseCases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5029200"/>
            <a:ext cx="2651760" cy="594360"/>
          </a:xfrm>
          <a:prstGeom prst="rect">
            <a:avLst/>
          </a:prstGeom>
          <a:solidFill>
            <a:srgbClr val="E8FFF0"/>
          </a:solid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5080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B485"/>
                </a:solidFill>
                <a:latin typeface="Courier New"/>
              </a:rPr>
              <a:t>:core:network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33095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Retrofit, API Service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09760" y="5029200"/>
            <a:ext cx="2651760" cy="594360"/>
          </a:xfrm>
          <a:prstGeom prst="rect">
            <a:avLst/>
          </a:prstGeom>
          <a:solidFill>
            <a:srgbClr val="E8FFF0"/>
          </a:solid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0" y="5080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8B485"/>
                </a:solidFill>
                <a:latin typeface="Courier New"/>
              </a:rPr>
              <a:t>:core:ui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33095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Lato"/>
              </a:rPr>
              <a:t>Componente, Teme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Lato"/>
              </a:rPr>
              <a:t>FLUX ARHITECTURAL — SYSTEM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3474720" cy="5029200"/>
          </a:xfrm>
          <a:prstGeom prst="rect">
            <a:avLst/>
          </a:prstGeom>
          <a:solidFill>
            <a:srgbClr val="F7FFFA"/>
          </a:solidFill>
          <a:ln w="1905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5361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C57A"/>
                </a:solidFill>
                <a:latin typeface="Lato"/>
              </a:rPr>
              <a:t>Android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463040"/>
            <a:ext cx="4114800" cy="5029200"/>
          </a:xfrm>
          <a:prstGeom prst="rect">
            <a:avLst/>
          </a:prstGeom>
          <a:solidFill>
            <a:srgbClr val="F7FFFA"/>
          </a:solidFill>
          <a:ln w="1905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06240" y="15361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8B485"/>
                </a:solidFill>
                <a:latin typeface="Lato"/>
              </a:rPr>
              <a:t>FastAPI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463040"/>
            <a:ext cx="3200400" cy="2194560"/>
          </a:xfrm>
          <a:prstGeom prst="rect">
            <a:avLst/>
          </a:prstGeom>
          <a:solidFill>
            <a:srgbClr val="F7F7F7"/>
          </a:solidFill>
          <a:ln w="190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Lato"/>
              </a:rPr>
              <a:t>Externe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4023360"/>
            <a:ext cx="3200400" cy="2468880"/>
          </a:xfrm>
          <a:prstGeom prst="rect">
            <a:avLst/>
          </a:prstGeom>
          <a:solidFill>
            <a:srgbClr val="F7F7F7"/>
          </a:solidFill>
          <a:ln w="1905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4096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  <a:latin typeface="Lato"/>
              </a:rPr>
              <a:t>Persistență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3017520" cy="457200"/>
          </a:xfrm>
          <a:prstGeom prst="rect">
            <a:avLst/>
          </a:prstGeom>
          <a:solidFill>
            <a:srgbClr val="D4F5E0"/>
          </a:solidFill>
          <a:ln w="9525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6248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B485"/>
                </a:solidFill>
                <a:latin typeface="Lato"/>
              </a:rPr>
              <a:t>NewsFeedScreen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3017520" cy="457200"/>
          </a:xfrm>
          <a:prstGeom prst="rect">
            <a:avLst/>
          </a:prstGeom>
          <a:solidFill>
            <a:srgbClr val="D4F5E0"/>
          </a:solidFill>
          <a:ln w="9525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70256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B485"/>
                </a:solidFill>
                <a:latin typeface="Lato"/>
              </a:rPr>
              <a:t>ViewModel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3017520" cy="457200"/>
          </a:xfrm>
          <a:prstGeom prst="rect">
            <a:avLst/>
          </a:prstGeom>
          <a:solidFill>
            <a:srgbClr val="D4F5E0"/>
          </a:solidFill>
          <a:ln w="9525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3426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B485"/>
                </a:solidFill>
                <a:latin typeface="Lato"/>
              </a:rPr>
              <a:t>Repository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3017520" cy="457200"/>
          </a:xfrm>
          <a:prstGeom prst="rect">
            <a:avLst/>
          </a:prstGeom>
          <a:solidFill>
            <a:srgbClr val="D4F5E0"/>
          </a:solidFill>
          <a:ln w="9525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9827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B485"/>
                </a:solidFill>
                <a:latin typeface="Lato"/>
              </a:rPr>
              <a:t>Retrofit Client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3017520" cy="457200"/>
          </a:xfrm>
          <a:prstGeom prst="rect">
            <a:avLst/>
          </a:prstGeom>
          <a:solidFill>
            <a:srgbClr val="D4F5E0"/>
          </a:solidFill>
          <a:ln w="9525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6228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B485"/>
                </a:solidFill>
                <a:latin typeface="Lato"/>
              </a:rPr>
              <a:t>Room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011680"/>
            <a:ext cx="3566160" cy="457200"/>
          </a:xfrm>
          <a:prstGeom prst="rect">
            <a:avLst/>
          </a:prstGeom>
          <a:solidFill>
            <a:srgbClr val="CCF2E5"/>
          </a:solidFill>
          <a:ln w="9525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20624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B485"/>
                </a:solidFill>
                <a:latin typeface="Lato"/>
              </a:rPr>
              <a:t>REST API Endpoints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651760"/>
            <a:ext cx="3566160" cy="457200"/>
          </a:xfrm>
          <a:prstGeom prst="rect">
            <a:avLst/>
          </a:prstGeom>
          <a:solidFill>
            <a:srgbClr val="CCF2E5"/>
          </a:solidFill>
          <a:ln w="9525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0" y="27025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B485"/>
                </a:solidFill>
                <a:latin typeface="Lato"/>
              </a:rPr>
              <a:t>ai_service.py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291840"/>
            <a:ext cx="3566160" cy="457200"/>
          </a:xfrm>
          <a:prstGeom prst="rect">
            <a:avLst/>
          </a:prstGeom>
          <a:solidFill>
            <a:srgbClr val="CCF2E5"/>
          </a:solidFill>
          <a:ln w="9525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0" y="33426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B485"/>
                </a:solidFill>
                <a:latin typeface="Lato"/>
              </a:rPr>
              <a:t>rss_service.py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931920"/>
            <a:ext cx="3566160" cy="457200"/>
          </a:xfrm>
          <a:prstGeom prst="rect">
            <a:avLst/>
          </a:prstGeom>
          <a:solidFill>
            <a:srgbClr val="CCF2E5"/>
          </a:solidFill>
          <a:ln w="9525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0" y="3982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B485"/>
                </a:solidFill>
                <a:latin typeface="Lato"/>
              </a:rPr>
              <a:t>scheduler_task.py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572000"/>
            <a:ext cx="3566160" cy="457200"/>
          </a:xfrm>
          <a:prstGeom prst="rect">
            <a:avLst/>
          </a:prstGeom>
          <a:solidFill>
            <a:srgbClr val="CCF2E5"/>
          </a:solidFill>
          <a:ln w="9525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46228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B485"/>
                </a:solidFill>
                <a:latin typeface="Lato"/>
              </a:rPr>
              <a:t>database.py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187451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Lato"/>
              </a:rPr>
              <a:t>🌐 Surse RSS / Bloguri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Lato"/>
              </a:rPr>
              <a:t>✨ Google Gemini 2.5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2519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Lato"/>
              </a:rPr>
              <a:t>💾 SQLite: data_agregate.db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754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Lato"/>
              </a:rPr>
              <a:t>📱 Room DB: Local Cache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566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8B485"/>
                </a:solidFill>
                <a:latin typeface="Lato"/>
              </a:rPr>
              <a:t>REST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77777"/>
                </a:solidFill>
                <a:latin typeface="Lato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77777"/>
                </a:solidFill>
                <a:latin typeface="Lato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251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77777"/>
                </a:solidFill>
                <a:latin typeface="Lato"/>
              </a:rPr>
              <a:t>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Lato"/>
              </a:rPr>
              <a:t>PIPELINE AI — ai_service.py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554480" cy="91440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214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5C57A"/>
                </a:solidFill>
                <a:latin typeface="La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Articol Pending
din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8B485"/>
                </a:solidFill>
                <a:latin typeface="Lat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728" y="201168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95728" y="2011680"/>
            <a:ext cx="1554480" cy="9144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95728" y="21214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8B485"/>
                </a:solidFill>
                <a:latin typeface="La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6517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Model Selector
(Primary/Fallback)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8B485"/>
                </a:solidFill>
                <a:latin typeface="Lato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201168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34256" y="2011680"/>
            <a:ext cx="1554480" cy="9144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34256" y="21214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A2BE2"/>
                </a:solidFill>
                <a:latin typeface="Lat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6517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Gemini 2.5 Flash
Sau DeepSeek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4456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8B485"/>
                </a:solidFill>
                <a:latin typeface="Lato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4" y="201168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2784" y="2011680"/>
            <a:ext cx="155448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72784" y="21214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  <a:latin typeface="Lat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6517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ENRICH_PROMPT
→ JSON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4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8B485"/>
                </a:solidFill>
                <a:latin typeface="Lato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11312" y="201168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11312" y="2011680"/>
            <a:ext cx="155448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11312" y="21214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74C3C"/>
                </a:solidFill>
                <a:latin typeface="Lat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6517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Validare JSON
&amp; Retry logic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8B485"/>
                </a:solidFill>
                <a:latin typeface="Lato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2011680"/>
            <a:ext cx="1554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149840" y="2011680"/>
            <a:ext cx="1554480" cy="91440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49840" y="212140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5C57A"/>
                </a:solidFill>
                <a:latin typeface="Lat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26517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Update DB:
Score, Summary, Tags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31920"/>
            <a:ext cx="112745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3931920"/>
            <a:ext cx="73152" cy="2468880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B485"/>
                </a:solidFill>
                <a:latin typeface="Lato"/>
              </a:rPr>
              <a:t>ENRICH_PROMPT include: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Lato"/>
              </a:rPr>
              <a:t>• Titlu + conținut articol → Rezumat în română (3-5 propoziții concise)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Lato"/>
              </a:rPr>
              <a:t>• AI Score 0-100 bazat pe relevanță, noutate și impact tehnic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Lato"/>
              </a:rPr>
              <a:t>• Lista de tags/categorii detectate automat (AI, Security, Dev, etc.)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Lato"/>
              </a:rPr>
              <a:t>• Fallback: DeepSeek Chat dacă Gemini returnează rate-limit sau eroare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Lato"/>
              </a:rPr>
              <a:t>BACKEND DEEP DIVE — FIȘIERE CHEIE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64008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ato"/>
              </a:rPr>
              <a:t>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ourier New"/>
              </a:rPr>
              <a:t>main.py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627632"/>
            <a:ext cx="1143000" cy="256032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163677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ato"/>
              </a:rPr>
              <a:t>CORE /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Punct de intrare FastAPI. Configurează ciclu de viață, rutele REST și pornește scheduler-ul.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6616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566160" cy="64008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ato"/>
              </a:rPr>
              <a:t>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ourier New"/>
              </a:rPr>
              <a:t>ai_service.py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627632"/>
            <a:ext cx="1143000" cy="256032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63677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ato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99339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Comunicare Google Gemini. Generează rezumate în română și calculează AI Score 0-100.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56616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566160" cy="64008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1572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ato"/>
              </a:rPr>
              <a:t>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ourier New"/>
              </a:rPr>
              <a:t>rss_service.py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61320" y="1627632"/>
            <a:ext cx="1143000" cy="256032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61320" y="163677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ato"/>
              </a:rPr>
              <a:t>NETWORKING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99339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Parsează feed-uri RSS cu feedparser. Filtrează articolele &lt; 24h și inițiază procesarea.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81528"/>
            <a:ext cx="356616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081528"/>
            <a:ext cx="3566160" cy="64008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19125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ato"/>
              </a:rPr>
              <a:t>🗄️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1912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ourier New"/>
              </a:rPr>
              <a:t>database.py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88920" y="3246120"/>
            <a:ext cx="1143000" cy="256032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88920" y="32552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ato"/>
              </a:rPr>
              <a:t>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11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Abstracție SQLite. CRUD complet: articole, surse RSS, device_seen, setări globale.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081528"/>
            <a:ext cx="356616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43400" y="3081528"/>
            <a:ext cx="3566160" cy="64008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34840" y="319125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ato"/>
              </a:rPr>
              <a:t>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31912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ourier New"/>
              </a:rPr>
              <a:t>scheduler_task.py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246120"/>
            <a:ext cx="1143000" cy="256032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75120" y="32552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ato"/>
              </a:rPr>
              <a:t>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3611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APScheduler — jobs periodice pentru actualizarea automată a știrilor la intervale.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3081528"/>
            <a:ext cx="356616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229600" y="3081528"/>
            <a:ext cx="3566160" cy="64008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319125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ato"/>
              </a:rPr>
              <a:t>⚙️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31912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ourier New"/>
              </a:rPr>
              <a:t>config.py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61320" y="3246120"/>
            <a:ext cx="1143000" cy="256032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61320" y="325526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ato"/>
              </a:rPr>
              <a:t>CONFIGURATION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611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Chei API, căi DB (Docker/Local), prompt-urile AI centralizate cu override env vars.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700016"/>
            <a:ext cx="356616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57200" y="4700016"/>
            <a:ext cx="3566160" cy="64008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480974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ato"/>
              </a:rPr>
              <a:t>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48097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ourier New"/>
              </a:rPr>
              <a:t>utils.py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8920" y="4864608"/>
            <a:ext cx="1143000" cy="256032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88920" y="48737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ato"/>
              </a:rPr>
              <a:t>HELPER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23036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Curățare HTML, generare URL Google News, algoritm de ranking al articolelor.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43400" y="4700016"/>
            <a:ext cx="356616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43400" y="4700016"/>
            <a:ext cx="3566160" cy="64008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34840" y="480974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ato"/>
              </a:rPr>
              <a:t>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48097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ourier New"/>
              </a:rPr>
              <a:t>test_api.py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4864608"/>
            <a:ext cx="1143000" cy="256032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75120" y="48737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ato"/>
              </a:rPr>
              <a:t>TESTING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4840" y="523036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Script testare automată — simulează toate interacțiunile aplicației mobile cu serverul.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700016"/>
            <a:ext cx="356616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7ED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229600" y="4700016"/>
            <a:ext cx="3566160" cy="64008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21040" y="480974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ato"/>
              </a:rPr>
              <a:t>🖼️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48097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Courier New"/>
              </a:rPr>
              <a:t>backfill_images.py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61320" y="4864608"/>
            <a:ext cx="1143000" cy="256032"/>
          </a:xfrm>
          <a:prstGeom prst="rect">
            <a:avLst/>
          </a:prstGeom>
          <a:solidFill>
            <a:srgbClr val="7ED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561320" y="48737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Lato"/>
              </a:rPr>
              <a:t>SCRIPT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523036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7777"/>
                </a:solidFill>
                <a:latin typeface="Lato"/>
              </a:rPr>
              <a:t>Script asincron — scraping pentru recuperarea imaginilor lipsă din articolele procesate.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Lato"/>
              </a:rPr>
              <a:t>SCHEMA BAZE DE 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200400" cy="45720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093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pending_articles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037080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id INTEGER PK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59152"/>
            <a:ext cx="3200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84552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title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06624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732024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url TEXT UNIQUE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54096"/>
            <a:ext cx="3200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079496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category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01568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26968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raw_content 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40"/>
            <a:ext cx="3200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774440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summary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9651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121912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score INTEGER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43984"/>
            <a:ext cx="3200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469384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image_url 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91456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816856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published_at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554480"/>
            <a:ext cx="3200400" cy="45720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16093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rss_sources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01168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2037080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id INTEGER PK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2359152"/>
            <a:ext cx="3200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2384552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url 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2706624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6280" y="2732024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category TEXT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054096"/>
            <a:ext cx="3200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80" y="3079496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is_active BOOLEAN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3401568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80" y="3426968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last_fetched 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1554480"/>
            <a:ext cx="3200400" cy="45720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09560" y="16093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device_seen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201168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2037080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id INTEGER PK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2359152"/>
            <a:ext cx="3200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09560" y="2384552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device_id 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2706624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9560" y="2732024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url TEXT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3054096"/>
            <a:ext cx="3200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09560" y="3079496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seen_at TIMESTAMP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4572000"/>
            <a:ext cx="3200400" cy="45720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09560" y="46268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app_settings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502920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09560" y="5054600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key TEXT PK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5376672"/>
            <a:ext cx="3200400" cy="347472"/>
          </a:xfrm>
          <a:prstGeom prst="rect">
            <a:avLst/>
          </a:prstGeom>
          <a:solidFill>
            <a:srgbClr val="F7F7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5402072"/>
            <a:ext cx="2926080" cy="29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urier New"/>
              </a:rPr>
              <a:t>value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Lato"/>
              </a:rPr>
              <a:t>SCREENSHOTS — ONBOARDING &amp; NEWS FEED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286000" cy="405993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34874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Onboarding — Pasul 1
Selectare Interese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554480"/>
            <a:ext cx="2286000" cy="405993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00050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1752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Onboarding — Pasul 2
Selectare Limbă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554480"/>
            <a:ext cx="2286000" cy="405993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5226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News Feed
Articole principale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554480"/>
            <a:ext cx="2286000" cy="405993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0402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News Feed
Shimmer loading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Lato"/>
              </a:rPr>
              <a:t>SCREENSHOTS — ARTICLE READER &amp; EXPLOREAZĂ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286000" cy="405993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34874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Reader
Header + Rezumat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554480"/>
            <a:ext cx="2286000" cy="405993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0050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1752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Reader
Conținut &amp; scroll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554480"/>
            <a:ext cx="2286000" cy="405993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5226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Reader
Salvare articol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554480"/>
            <a:ext cx="2286000" cy="405993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0402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Explorează
Grid categorii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Lato"/>
              </a:rPr>
              <a:t>SCREENSHOTS — SALVATE, FAB, SETĂRI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286000" cy="405993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874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 err="1">
                <a:solidFill>
                  <a:srgbClr val="333333"/>
                </a:solidFill>
                <a:latin typeface="Lato"/>
              </a:rPr>
              <a:t>Salvate</a:t>
            </a:r>
            <a:r>
              <a:rPr sz="900" b="1" i="0" dirty="0">
                <a:solidFill>
                  <a:srgbClr val="333333"/>
                </a:solidFill>
                <a:latin typeface="Lato"/>
              </a:rPr>
              <a:t>
Cu </a:t>
            </a:r>
            <a:r>
              <a:rPr sz="900" b="1" i="0" dirty="0" err="1">
                <a:solidFill>
                  <a:srgbClr val="333333"/>
                </a:solidFill>
                <a:latin typeface="Lato"/>
              </a:rPr>
              <a:t>articole</a:t>
            </a:r>
            <a:endParaRPr sz="900" b="1" i="0" dirty="0">
              <a:solidFill>
                <a:srgbClr val="333333"/>
              </a:solidFill>
              <a:latin typeface="Lat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08960" y="1554480"/>
            <a:ext cx="2286000" cy="405993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0050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1752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FAB Speed Dial
RSS &amp; Interese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1554480"/>
            <a:ext cx="2286000" cy="405993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5226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Bottom Sheet
Adaugă RSS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554480"/>
            <a:ext cx="2286000" cy="405993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04020" y="1554480"/>
            <a:ext cx="502920" cy="164592"/>
          </a:xfrm>
          <a:prstGeom prst="rect">
            <a:avLst/>
          </a:prstGeom>
          <a:solidFill>
            <a:srgbClr val="0F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56875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Lato"/>
              </a:rPr>
              <a:t>Setări / Profil
Toggle temă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Lato"/>
              </a:rPr>
              <a:t>FLUX INGESTIE RSS — rss_service.py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554480" cy="91440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Lato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Input
Lista URL-uri RSS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8B485"/>
                </a:solidFill>
                <a:latin typeface="Lat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82880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80" y="1828800"/>
            <a:ext cx="1554480" cy="9144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965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Lato"/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Loop URL-uri
+ feedparser.parse()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8B485"/>
                </a:solidFill>
                <a:latin typeface="Lato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82880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80560" y="1828800"/>
            <a:ext cx="155448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965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Lato"/>
              </a:rPr>
              <a:t>⏱️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Filtru vârstă
&lt; 24 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8B485"/>
                </a:solidFill>
                <a:latin typeface="Lato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82880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55C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92240" y="1828800"/>
            <a:ext cx="1554480" cy="91440"/>
          </a:xfrm>
          <a:prstGeom prst="rect">
            <a:avLst/>
          </a:prstGeom>
          <a:solidFill>
            <a:srgbClr val="55C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Lato"/>
              </a:rPr>
              <a:t>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Curățare HTML
+ extracție media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8B485"/>
                </a:solidFill>
                <a:latin typeface="Lato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182880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03920" y="1828800"/>
            <a:ext cx="1554480" cy="9144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1965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Lato"/>
              </a:rP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Batch 50
INSERT OR IGNORE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5146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8B485"/>
                </a:solidFill>
                <a:latin typeface="Lato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1828800"/>
            <a:ext cx="15544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515600" y="1828800"/>
            <a:ext cx="1554480" cy="9144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0" y="1965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Lato"/>
              </a:rPr>
              <a:t>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Lato"/>
              </a:rPr>
              <a:t>enrich_pending
→ AI Pipeline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538" y="3931920"/>
            <a:ext cx="112745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8B4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3931920"/>
            <a:ext cx="91440" cy="2468880"/>
          </a:xfrm>
          <a:prstGeom prst="rect">
            <a:avLst/>
          </a:prstGeom>
          <a:solidFill>
            <a:srgbClr val="28B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0416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8B485"/>
                </a:solidFill>
                <a:latin typeface="Lato"/>
              </a:rPr>
              <a:t>scheduler_task.py — </a:t>
            </a:r>
            <a:r>
              <a:rPr sz="1300" b="1" i="0" dirty="0" err="1">
                <a:solidFill>
                  <a:srgbClr val="28B485"/>
                </a:solidFill>
                <a:latin typeface="Lato"/>
              </a:rPr>
              <a:t>Automatizare</a:t>
            </a:r>
            <a:endParaRPr sz="1300" b="1" i="0" dirty="0">
              <a:solidFill>
                <a:srgbClr val="28B485"/>
              </a:solidFill>
              <a:latin typeface="Lat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58858" y="4480560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latin typeface="Comic Sans MS" panose="030F0702030302020204" pitchFamily="66" charset="0"/>
              </a:rPr>
              <a:t>• </a:t>
            </a:r>
            <a:r>
              <a:rPr sz="1400" dirty="0" err="1">
                <a:latin typeface="Comic Sans MS" panose="030F0702030302020204" pitchFamily="66" charset="0"/>
              </a:rPr>
              <a:t>APScheduler</a:t>
            </a:r>
            <a:r>
              <a:rPr sz="1400" dirty="0">
                <a:latin typeface="Comic Sans MS" panose="030F0702030302020204" pitchFamily="66" charset="0"/>
              </a:rPr>
              <a:t> </a:t>
            </a:r>
            <a:r>
              <a:rPr sz="1400" dirty="0" err="1">
                <a:latin typeface="Comic Sans MS" panose="030F0702030302020204" pitchFamily="66" charset="0"/>
              </a:rPr>
              <a:t>rulează</a:t>
            </a:r>
            <a:r>
              <a:rPr sz="1400" dirty="0">
                <a:latin typeface="Comic Sans MS" panose="030F0702030302020204" pitchFamily="66" charset="0"/>
              </a:rPr>
              <a:t> job-ul la intervale </a:t>
            </a:r>
            <a:r>
              <a:rPr sz="1400" dirty="0" err="1">
                <a:latin typeface="Comic Sans MS" panose="030F0702030302020204" pitchFamily="66" charset="0"/>
              </a:rPr>
              <a:t>configurabile</a:t>
            </a:r>
            <a:r>
              <a:rPr sz="1400" dirty="0">
                <a:latin typeface="Comic Sans MS" panose="030F0702030302020204" pitchFamily="66" charset="0"/>
              </a:rPr>
              <a:t> (implicit 30 min)</a:t>
            </a:r>
          </a:p>
          <a:p>
            <a:pPr algn="l"/>
            <a:r>
              <a:rPr sz="1400" dirty="0">
                <a:latin typeface="Comic Sans MS" panose="030F0702030302020204" pitchFamily="66" charset="0"/>
              </a:rPr>
              <a:t>• </a:t>
            </a:r>
            <a:r>
              <a:rPr sz="1400" dirty="0" err="1">
                <a:latin typeface="Comic Sans MS" panose="030F0702030302020204" pitchFamily="66" charset="0"/>
              </a:rPr>
              <a:t>Grupează</a:t>
            </a:r>
            <a:r>
              <a:rPr sz="1400" dirty="0">
                <a:latin typeface="Comic Sans MS" panose="030F0702030302020204" pitchFamily="66" charset="0"/>
              </a:rPr>
              <a:t> </a:t>
            </a:r>
            <a:r>
              <a:rPr sz="1400" dirty="0" err="1">
                <a:latin typeface="Comic Sans MS" panose="030F0702030302020204" pitchFamily="66" charset="0"/>
              </a:rPr>
              <a:t>sursele</a:t>
            </a:r>
            <a:r>
              <a:rPr sz="1400" dirty="0">
                <a:latin typeface="Comic Sans MS" panose="030F0702030302020204" pitchFamily="66" charset="0"/>
              </a:rPr>
              <a:t> RSS pe </a:t>
            </a:r>
            <a:r>
              <a:rPr sz="1400" dirty="0" err="1">
                <a:latin typeface="Comic Sans MS" panose="030F0702030302020204" pitchFamily="66" charset="0"/>
              </a:rPr>
              <a:t>categorii</a:t>
            </a:r>
            <a:r>
              <a:rPr sz="1400" dirty="0">
                <a:latin typeface="Comic Sans MS" panose="030F0702030302020204" pitchFamily="66" charset="0"/>
              </a:rPr>
              <a:t> → </a:t>
            </a:r>
            <a:r>
              <a:rPr sz="1400" dirty="0" err="1">
                <a:latin typeface="Comic Sans MS" panose="030F0702030302020204" pitchFamily="66" charset="0"/>
              </a:rPr>
              <a:t>apeluri</a:t>
            </a:r>
            <a:r>
              <a:rPr sz="1400" dirty="0">
                <a:latin typeface="Comic Sans MS" panose="030F0702030302020204" pitchFamily="66" charset="0"/>
              </a:rPr>
              <a:t> </a:t>
            </a:r>
            <a:r>
              <a:rPr sz="1400" dirty="0" err="1">
                <a:latin typeface="Comic Sans MS" panose="030F0702030302020204" pitchFamily="66" charset="0"/>
              </a:rPr>
              <a:t>paralele</a:t>
            </a:r>
            <a:r>
              <a:rPr sz="1400" dirty="0">
                <a:latin typeface="Comic Sans MS" panose="030F0702030302020204" pitchFamily="66" charset="0"/>
              </a:rPr>
              <a:t> cu </a:t>
            </a:r>
            <a:r>
              <a:rPr sz="1400" dirty="0" err="1">
                <a:latin typeface="Comic Sans MS" panose="030F0702030302020204" pitchFamily="66" charset="0"/>
              </a:rPr>
              <a:t>asyncio</a:t>
            </a:r>
            <a:endParaRPr sz="1400" dirty="0">
              <a:latin typeface="Comic Sans MS" panose="030F0702030302020204" pitchFamily="66" charset="0"/>
            </a:endParaRPr>
          </a:p>
          <a:p>
            <a:pPr algn="l"/>
            <a:r>
              <a:rPr sz="1400" dirty="0">
                <a:latin typeface="Comic Sans MS" panose="030F0702030302020204" pitchFamily="66" charset="0"/>
              </a:rPr>
              <a:t>• Trigger manual </a:t>
            </a:r>
            <a:r>
              <a:rPr sz="1400" dirty="0" err="1">
                <a:latin typeface="Comic Sans MS" panose="030F0702030302020204" pitchFamily="66" charset="0"/>
              </a:rPr>
              <a:t>disponibil</a:t>
            </a:r>
            <a:r>
              <a:rPr sz="1400" dirty="0">
                <a:latin typeface="Comic Sans MS" panose="030F0702030302020204" pitchFamily="66" charset="0"/>
              </a:rPr>
              <a:t> via POST /ingest din </a:t>
            </a:r>
            <a:r>
              <a:rPr sz="1400" dirty="0" err="1">
                <a:latin typeface="Comic Sans MS" panose="030F0702030302020204" pitchFamily="66" charset="0"/>
              </a:rPr>
              <a:t>aplicația</a:t>
            </a:r>
            <a:r>
              <a:rPr sz="1400" dirty="0">
                <a:latin typeface="Comic Sans MS" panose="030F0702030302020204" pitchFamily="66" charset="0"/>
              </a:rPr>
              <a:t> Android</a:t>
            </a:r>
          </a:p>
          <a:p>
            <a:pPr algn="l"/>
            <a:r>
              <a:rPr sz="1400" dirty="0">
                <a:latin typeface="Comic Sans MS" panose="030F0702030302020204" pitchFamily="66" charset="0"/>
              </a:rPr>
              <a:t>• </a:t>
            </a:r>
            <a:r>
              <a:rPr sz="1400" dirty="0" err="1">
                <a:latin typeface="Comic Sans MS" panose="030F0702030302020204" pitchFamily="66" charset="0"/>
              </a:rPr>
              <a:t>Logare</a:t>
            </a:r>
            <a:r>
              <a:rPr sz="1400" dirty="0">
                <a:latin typeface="Comic Sans MS" panose="030F0702030302020204" pitchFamily="66" charset="0"/>
              </a:rPr>
              <a:t> </a:t>
            </a:r>
            <a:r>
              <a:rPr sz="1400" dirty="0" err="1">
                <a:latin typeface="Comic Sans MS" panose="030F0702030302020204" pitchFamily="66" charset="0"/>
              </a:rPr>
              <a:t>detaliată</a:t>
            </a:r>
            <a:r>
              <a:rPr sz="1400" dirty="0">
                <a:latin typeface="Comic Sans MS" panose="030F0702030302020204" pitchFamily="66" charset="0"/>
              </a:rPr>
              <a:t>: </a:t>
            </a:r>
            <a:r>
              <a:rPr sz="1400" dirty="0" err="1">
                <a:latin typeface="Comic Sans MS" panose="030F0702030302020204" pitchFamily="66" charset="0"/>
              </a:rPr>
              <a:t>articole</a:t>
            </a:r>
            <a:r>
              <a:rPr sz="1400" dirty="0">
                <a:latin typeface="Comic Sans MS" panose="030F0702030302020204" pitchFamily="66" charset="0"/>
              </a:rPr>
              <a:t> </a:t>
            </a:r>
            <a:r>
              <a:rPr sz="1400" dirty="0" err="1">
                <a:latin typeface="Comic Sans MS" panose="030F0702030302020204" pitchFamily="66" charset="0"/>
              </a:rPr>
              <a:t>noi</a:t>
            </a:r>
            <a:r>
              <a:rPr sz="1400" dirty="0">
                <a:latin typeface="Comic Sans MS" panose="030F0702030302020204" pitchFamily="66" charset="0"/>
              </a:rPr>
              <a:t>, duplicate </a:t>
            </a:r>
            <a:r>
              <a:rPr sz="1400" dirty="0" err="1">
                <a:latin typeface="Comic Sans MS" panose="030F0702030302020204" pitchFamily="66" charset="0"/>
              </a:rPr>
              <a:t>ignorate</a:t>
            </a:r>
            <a:r>
              <a:rPr sz="1400" dirty="0">
                <a:latin typeface="Comic Sans MS" panose="030F0702030302020204" pitchFamily="66" charset="0"/>
              </a:rPr>
              <a:t>, </a:t>
            </a:r>
            <a:r>
              <a:rPr sz="1400" dirty="0" err="1">
                <a:latin typeface="Comic Sans MS" panose="030F0702030302020204" pitchFamily="66" charset="0"/>
              </a:rPr>
              <a:t>erori</a:t>
            </a:r>
            <a:r>
              <a:rPr sz="1400" dirty="0">
                <a:latin typeface="Comic Sans MS" panose="030F0702030302020204" pitchFamily="66" charset="0"/>
              </a:rPr>
              <a:t>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7ED56F"/>
              </a:gs>
              <a:gs pos="100000">
                <a:srgbClr val="28B485"/>
              </a:gs>
            </a:gsLst>
            <a:lin ang="135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Lato"/>
              </a:rPr>
              <a:t>CONCLUZII &amp; DIRECȚII VIITOARE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5486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75488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Lato"/>
              </a:rPr>
              <a:t>✅  Realizări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9377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✔  </a:t>
            </a:r>
            <a:r>
              <a:rPr sz="1600" b="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Ecosistem</a:t>
            </a:r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complet</a:t>
            </a:r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 Backend + Android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✔  AI Integration cu Gemini 2.5 &amp; fallback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✔  </a:t>
            </a:r>
            <a:r>
              <a:rPr sz="1600" b="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Arhitectură</a:t>
            </a:r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modulară</a:t>
            </a:r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scalabilă</a:t>
            </a:r>
            <a:endParaRPr sz="1600" b="0" dirty="0">
              <a:solidFill>
                <a:srgbClr val="FFFFFF"/>
              </a:solidFill>
              <a:latin typeface="Comic Sans MS" panose="030F0702030302020204" pitchFamily="66" charset="0"/>
            </a:endParaRPr>
          </a:p>
          <a:p>
            <a:pPr algn="l"/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✔  Offline First cu Room Database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✔  UI </a:t>
            </a:r>
            <a:r>
              <a:rPr sz="1600" b="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adaptiv</a:t>
            </a:r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: phone + tablet (</a:t>
            </a:r>
            <a:r>
              <a:rPr sz="1600" b="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NavRail</a:t>
            </a:r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)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✔  Material Design 3 cu Dark/Light mode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Comic Sans MS" panose="030F0702030302020204" pitchFamily="66" charset="0"/>
              </a:rPr>
              <a:t>✔  Deploy-ready cu Docker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475488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Lato"/>
              </a:rPr>
              <a:t>🚀 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9377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→  </a:t>
            </a:r>
            <a:r>
              <a:rPr sz="160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Notificări</a:t>
            </a:r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 push (Firebase FCM)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→  Widget Android 12 cu </a:t>
            </a:r>
            <a:r>
              <a:rPr sz="160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ultimele</a:t>
            </a:r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știri</a:t>
            </a:r>
            <a:endParaRPr sz="1600" dirty="0">
              <a:solidFill>
                <a:srgbClr val="FFFFFF"/>
              </a:solidFill>
              <a:latin typeface="Comic Sans MS" panose="030F0702030302020204" pitchFamily="66" charset="0"/>
            </a:endParaRPr>
          </a:p>
          <a:p>
            <a:pPr algn="l"/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→  </a:t>
            </a:r>
            <a:r>
              <a:rPr sz="160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Căutare</a:t>
            </a:r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 full-text </a:t>
            </a:r>
            <a:r>
              <a:rPr sz="160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în</a:t>
            </a:r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articolele</a:t>
            </a:r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 locale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→  </a:t>
            </a:r>
            <a:r>
              <a:rPr sz="160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Personalizare</a:t>
            </a:r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 feed via ML on-device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→  Export / share </a:t>
            </a:r>
            <a:r>
              <a:rPr sz="160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articole</a:t>
            </a:r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 ca PDF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→  CI/CD pipeline </a:t>
            </a:r>
            <a:r>
              <a:rPr sz="160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complet</a:t>
            </a:r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 (GitHub Actions)</a:t>
            </a:r>
          </a:p>
          <a:p>
            <a:pPr algn="l"/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→  </a:t>
            </a:r>
            <a:r>
              <a:rPr sz="1600" dirty="0" err="1">
                <a:solidFill>
                  <a:srgbClr val="FFFFFF"/>
                </a:solidFill>
                <a:latin typeface="Comic Sans MS" panose="030F0702030302020204" pitchFamily="66" charset="0"/>
              </a:rPr>
              <a:t>Versiune</a:t>
            </a:r>
            <a:r>
              <a:rPr sz="1600" dirty="0">
                <a:solidFill>
                  <a:srgbClr val="FFFFFF"/>
                </a:solidFill>
                <a:latin typeface="Comic Sans MS" panose="030F0702030302020204" pitchFamily="66" charset="0"/>
              </a:rPr>
              <a:t> iOS (Kotlin Multiplatform)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008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FFE0"/>
                </a:solidFill>
                <a:latin typeface="Lato"/>
              </a:rPr>
              <a:t>© 2026 DataAgregate — Design inspirat de cursul Natours  |  podutpetru@gmail.com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1141</Words>
  <Application>Microsoft Office PowerPoint</Application>
  <PresentationFormat>Custom</PresentationFormat>
  <Paragraphs>239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Comic Sans MS</vt:lpstr>
      <vt:lpstr>Courier New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Podut</cp:lastModifiedBy>
  <cp:revision>3</cp:revision>
  <dcterms:created xsi:type="dcterms:W3CDTF">2013-01-27T09:14:16Z</dcterms:created>
  <dcterms:modified xsi:type="dcterms:W3CDTF">2026-05-25T10:25:43Z</dcterms:modified>
  <cp:category/>
</cp:coreProperties>
</file>