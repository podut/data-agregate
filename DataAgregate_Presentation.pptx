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18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BA193-078F-465A-9F71-A5BFA2E0C939}" type="datetimeFigureOut">
              <a:rPr lang="ro-RO" smtClean="0"/>
              <a:t>25.05.2026</a:t>
            </a:fld>
            <a:endParaRPr lang="ro-R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o-R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92B411-541F-4BE4-8EEE-2DA2E8878439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218912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92B411-541F-4BE4-8EEE-2DA2E8878439}" type="slidenum">
              <a:rPr lang="ro-RO" smtClean="0"/>
              <a:t>9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700305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135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8B485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 dirty="0" err="1">
                <a:solidFill>
                  <a:srgbClr val="FFFFFF"/>
                </a:solidFill>
                <a:latin typeface="Lato"/>
              </a:rPr>
              <a:t>DataAgregate</a:t>
            </a:r>
            <a:endParaRPr sz="6000" b="0" i="0" dirty="0">
              <a:solidFill>
                <a:srgbClr val="FFFFFF"/>
              </a:solidFill>
              <a:latin typeface="Lat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Lato"/>
              </a:rPr>
              <a:t>R A P O R T   F I N A L   —   E C O S I S T E M   C O M P L E 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72000"/>
            <a:ext cx="36576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4846320"/>
            <a:ext cx="853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dirty="0">
                <a:solidFill>
                  <a:schemeClr val="bg1"/>
                </a:solidFill>
                <a:latin typeface="Comic Sans MS" panose="030F0702030302020204" pitchFamily="66" charset="0"/>
              </a:rPr>
              <a:t>Android · Kotlin · Jetpack Compose · </a:t>
            </a:r>
            <a:r>
              <a:rPr sz="1600" dirty="0" err="1">
                <a:solidFill>
                  <a:schemeClr val="bg1"/>
                </a:solidFill>
                <a:latin typeface="Comic Sans MS" panose="030F0702030302020204" pitchFamily="66" charset="0"/>
              </a:rPr>
              <a:t>FastAPI</a:t>
            </a:r>
            <a:r>
              <a:rPr sz="1600" dirty="0">
                <a:solidFill>
                  <a:schemeClr val="bg1"/>
                </a:solidFill>
                <a:latin typeface="Comic Sans MS" panose="030F0702030302020204" pitchFamily="66" charset="0"/>
              </a:rPr>
              <a:t> · Google Gemini 2.5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217920"/>
            <a:ext cx="85313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CCFFE0"/>
                </a:solidFill>
                <a:latin typeface="Lato"/>
              </a:rPr>
              <a:t>© 2026 — Design </a:t>
            </a:r>
            <a:r>
              <a:rPr lang="en-US" sz="1000" b="0" i="0" dirty="0">
                <a:solidFill>
                  <a:srgbClr val="CCFFE0"/>
                </a:solidFill>
                <a:latin typeface="Lato"/>
              </a:rPr>
              <a:t>Podut Petru / Podut Tania</a:t>
            </a:r>
            <a:endParaRPr sz="1000" b="0" i="0" dirty="0">
              <a:solidFill>
                <a:srgbClr val="CCFFE0"/>
              </a:solidFill>
              <a:latin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Lato"/>
              </a:rPr>
              <a:t>VIZIUNE DE ANSAMBLU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39496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011680" cy="320040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71320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Lato"/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 err="1">
                <a:solidFill>
                  <a:srgbClr val="333333"/>
                </a:solidFill>
                <a:latin typeface="Lato"/>
              </a:rPr>
              <a:t>rss</a:t>
            </a:r>
            <a:r>
              <a:rPr sz="1800" b="1" i="0" dirty="0">
                <a:solidFill>
                  <a:srgbClr val="333333"/>
                </a:solidFill>
                <a:latin typeface="Lato"/>
              </a:rPr>
              <a:t>-</a:t>
            </a:r>
            <a:r>
              <a:rPr sz="1800" b="1" i="0" dirty="0" err="1">
                <a:solidFill>
                  <a:srgbClr val="333333"/>
                </a:solidFill>
                <a:latin typeface="Lato"/>
              </a:rPr>
              <a:t>ingestor</a:t>
            </a:r>
            <a:r>
              <a:rPr sz="1800" b="1" i="0" dirty="0">
                <a:solidFill>
                  <a:srgbClr val="333333"/>
                </a:solidFill>
                <a:latin typeface="Lato"/>
              </a:rPr>
              <a:t>-service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4937760" cy="3683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</a:t>
            </a:r>
            <a:r>
              <a:rPr sz="1600" dirty="0" err="1">
                <a:latin typeface="Comic Sans MS" panose="030F0702030302020204" pitchFamily="66" charset="0"/>
              </a:rPr>
              <a:t>FastAPI</a:t>
            </a:r>
            <a:r>
              <a:rPr sz="1600" dirty="0">
                <a:latin typeface="Comic Sans MS" panose="030F0702030302020204" pitchFamily="66" charset="0"/>
              </a:rPr>
              <a:t> + Python 3.10+</a:t>
            </a:r>
          </a:p>
          <a:p>
            <a:pPr algn="l"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</a:t>
            </a:r>
            <a:r>
              <a:rPr sz="1600" dirty="0" err="1">
                <a:latin typeface="Comic Sans MS" panose="030F0702030302020204" pitchFamily="66" charset="0"/>
              </a:rPr>
              <a:t>Colectare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automată</a:t>
            </a:r>
            <a:r>
              <a:rPr sz="1600" dirty="0">
                <a:latin typeface="Comic Sans MS" panose="030F0702030302020204" pitchFamily="66" charset="0"/>
              </a:rPr>
              <a:t> RSS &amp; Google News</a:t>
            </a:r>
          </a:p>
          <a:p>
            <a:pPr algn="l"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</a:t>
            </a:r>
            <a:r>
              <a:rPr sz="1600" dirty="0" err="1">
                <a:latin typeface="Comic Sans MS" panose="030F0702030302020204" pitchFamily="66" charset="0"/>
              </a:rPr>
              <a:t>Procesare</a:t>
            </a:r>
            <a:r>
              <a:rPr sz="1600" dirty="0">
                <a:latin typeface="Comic Sans MS" panose="030F0702030302020204" pitchFamily="66" charset="0"/>
              </a:rPr>
              <a:t> AI cu Google Gemini 2.5 Pro</a:t>
            </a:r>
          </a:p>
          <a:p>
            <a:pPr algn="l"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</a:t>
            </a:r>
            <a:r>
              <a:rPr sz="1600" dirty="0" err="1">
                <a:latin typeface="Comic Sans MS" panose="030F0702030302020204" pitchFamily="66" charset="0"/>
              </a:rPr>
              <a:t>APScheduler</a:t>
            </a:r>
            <a:r>
              <a:rPr sz="1600" dirty="0">
                <a:latin typeface="Comic Sans MS" panose="030F0702030302020204" pitchFamily="66" charset="0"/>
              </a:rPr>
              <a:t> — jobs </a:t>
            </a:r>
            <a:r>
              <a:rPr sz="1600" dirty="0" err="1">
                <a:latin typeface="Comic Sans MS" panose="030F0702030302020204" pitchFamily="66" charset="0"/>
              </a:rPr>
              <a:t>periodice</a:t>
            </a:r>
            <a:endParaRPr sz="1600" dirty="0">
              <a:latin typeface="Comic Sans MS" panose="030F0702030302020204" pitchFamily="66" charset="0"/>
            </a:endParaRPr>
          </a:p>
          <a:p>
            <a:pPr algn="l"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SQLite </a:t>
            </a:r>
            <a:r>
              <a:rPr sz="1600" dirty="0" err="1">
                <a:latin typeface="Comic Sans MS" panose="030F0702030302020204" pitchFamily="66" charset="0"/>
              </a:rPr>
              <a:t>pentru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persistența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articolelor</a:t>
            </a:r>
            <a:endParaRPr sz="1600" dirty="0">
              <a:latin typeface="Comic Sans MS" panose="030F0702030302020204" pitchFamily="66" charset="0"/>
            </a:endParaRPr>
          </a:p>
          <a:p>
            <a:pPr algn="l"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</a:t>
            </a:r>
            <a:r>
              <a:rPr sz="1600" dirty="0" err="1">
                <a:latin typeface="Comic Sans MS" panose="030F0702030302020204" pitchFamily="66" charset="0"/>
              </a:rPr>
              <a:t>Sumarizare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în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română</a:t>
            </a:r>
            <a:r>
              <a:rPr sz="1600" dirty="0">
                <a:latin typeface="Comic Sans MS" panose="030F0702030302020204" pitchFamily="66" charset="0"/>
              </a:rPr>
              <a:t> + AI Score (0-100</a:t>
            </a:r>
            <a:r>
              <a:rPr sz="1400" b="0" dirty="0">
                <a:latin typeface="Lato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39496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2011680" cy="320040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71320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ato"/>
              </a:rPr>
              <a:t>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 err="1">
                <a:solidFill>
                  <a:srgbClr val="333333"/>
                </a:solidFill>
                <a:latin typeface="Lato"/>
              </a:rPr>
              <a:t>DataAgregate</a:t>
            </a:r>
            <a:r>
              <a:rPr sz="1800" b="1" i="0" dirty="0">
                <a:solidFill>
                  <a:srgbClr val="333333"/>
                </a:solidFill>
                <a:latin typeface="Lato"/>
              </a:rPr>
              <a:t> Mobile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06040"/>
            <a:ext cx="4937760" cy="3683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Kotlin + Jetpack Compose</a:t>
            </a:r>
          </a:p>
          <a:p>
            <a:pPr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Material Design 3 + </a:t>
            </a:r>
            <a:r>
              <a:rPr sz="1600" dirty="0" err="1">
                <a:latin typeface="Comic Sans MS" panose="030F0702030302020204" pitchFamily="66" charset="0"/>
              </a:rPr>
              <a:t>teme</a:t>
            </a:r>
            <a:r>
              <a:rPr sz="1600" dirty="0">
                <a:latin typeface="Comic Sans MS" panose="030F0702030302020204" pitchFamily="66" charset="0"/>
              </a:rPr>
              <a:t> Dark/Light</a:t>
            </a:r>
          </a:p>
          <a:p>
            <a:pPr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</a:t>
            </a:r>
            <a:r>
              <a:rPr sz="1600" dirty="0" err="1">
                <a:latin typeface="Comic Sans MS" panose="030F0702030302020204" pitchFamily="66" charset="0"/>
              </a:rPr>
              <a:t>Arhitectură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modulară</a:t>
            </a:r>
            <a:r>
              <a:rPr sz="1600" dirty="0">
                <a:latin typeface="Comic Sans MS" panose="030F0702030302020204" pitchFamily="66" charset="0"/>
              </a:rPr>
              <a:t> (feature modules)</a:t>
            </a:r>
          </a:p>
          <a:p>
            <a:pPr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Room Database — Offline First</a:t>
            </a:r>
          </a:p>
          <a:p>
            <a:pPr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Retrofit — </a:t>
            </a:r>
            <a:r>
              <a:rPr sz="1600" dirty="0" err="1">
                <a:latin typeface="Comic Sans MS" panose="030F0702030302020204" pitchFamily="66" charset="0"/>
              </a:rPr>
              <a:t>comunicare</a:t>
            </a:r>
            <a:r>
              <a:rPr sz="1600" dirty="0">
                <a:latin typeface="Comic Sans MS" panose="030F0702030302020204" pitchFamily="66" charset="0"/>
              </a:rPr>
              <a:t> REST cu backend</a:t>
            </a:r>
          </a:p>
          <a:p>
            <a:pPr>
              <a:lnSpc>
                <a:spcPct val="250000"/>
              </a:lnSpc>
            </a:pPr>
            <a:r>
              <a:rPr sz="1600" dirty="0">
                <a:latin typeface="Comic Sans MS" panose="030F0702030302020204" pitchFamily="66" charset="0"/>
              </a:rPr>
              <a:t>• Hilt — Dependency Injection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Lato"/>
              </a:rPr>
              <a:t>STACK TEHNOLOGIC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566160" cy="201168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566160" cy="73152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8B485"/>
                </a:solidFill>
                <a:latin typeface="Lato"/>
              </a:rPr>
              <a:t>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556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Lato"/>
              </a:rPr>
              <a:t>Python 3.10+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3291840" cy="79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dirty="0" err="1">
                <a:latin typeface="Comic Sans MS" panose="030F0702030302020204" pitchFamily="66" charset="0"/>
              </a:rPr>
              <a:t>FastAPI</a:t>
            </a:r>
            <a:r>
              <a:rPr sz="1600" dirty="0">
                <a:latin typeface="Comic Sans MS" panose="030F0702030302020204" pitchFamily="66" charset="0"/>
              </a:rPr>
              <a:t>, </a:t>
            </a:r>
            <a:r>
              <a:rPr sz="1600" dirty="0" err="1">
                <a:latin typeface="Comic Sans MS" panose="030F0702030302020204" pitchFamily="66" charset="0"/>
              </a:rPr>
              <a:t>feedparser</a:t>
            </a:r>
            <a:r>
              <a:rPr sz="1600" dirty="0">
                <a:latin typeface="Comic Sans MS" panose="030F0702030302020204" pitchFamily="66" charset="0"/>
              </a:rPr>
              <a:t>, </a:t>
            </a:r>
            <a:r>
              <a:rPr sz="1600" dirty="0" err="1">
                <a:latin typeface="Comic Sans MS" panose="030F0702030302020204" pitchFamily="66" charset="0"/>
              </a:rPr>
              <a:t>APScheduler</a:t>
            </a:r>
            <a:r>
              <a:rPr sz="1600" dirty="0">
                <a:latin typeface="Comic Sans MS" panose="030F0702030302020204" pitchFamily="66" charset="0"/>
              </a:rPr>
              <a:t>, </a:t>
            </a:r>
            <a:r>
              <a:rPr sz="1600" dirty="0" err="1">
                <a:latin typeface="Comic Sans MS" panose="030F0702030302020204" pitchFamily="66" charset="0"/>
              </a:rPr>
              <a:t>aiohttp</a:t>
            </a:r>
            <a:endParaRPr sz="1600" dirty="0">
              <a:latin typeface="Comic Sans MS" panose="030F0702030302020204" pitchFamily="66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1554480"/>
            <a:ext cx="3566160" cy="201168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566160" cy="73152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17190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8B485"/>
                </a:solidFill>
                <a:latin typeface="Lato"/>
              </a:rPr>
              <a:t>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7556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Lato"/>
              </a:rPr>
              <a:t>Google Gemini 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240280"/>
            <a:ext cx="3291840" cy="79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 dirty="0" err="1">
                <a:latin typeface="Comic Sans MS" panose="030F0702030302020204" pitchFamily="66" charset="0"/>
              </a:rPr>
              <a:t>Sumarizare</a:t>
            </a:r>
            <a:r>
              <a:rPr sz="1600" dirty="0">
                <a:latin typeface="Comic Sans MS" panose="030F0702030302020204" pitchFamily="66" charset="0"/>
              </a:rPr>
              <a:t> &amp; scoring </a:t>
            </a:r>
            <a:r>
              <a:rPr sz="1600" dirty="0" err="1">
                <a:latin typeface="Comic Sans MS" panose="030F0702030302020204" pitchFamily="66" charset="0"/>
              </a:rPr>
              <a:t>articole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în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română</a:t>
            </a:r>
            <a:endParaRPr sz="1600" dirty="0">
              <a:latin typeface="Comic Sans MS" panose="030F0702030302020204" pitchFamily="66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566160" cy="201168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3566160" cy="73152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7190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8B485"/>
                </a:solidFill>
                <a:latin typeface="Lato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7556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Lato"/>
              </a:rPr>
              <a:t>Kotlin + Compose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40280"/>
            <a:ext cx="3291840" cy="42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 dirty="0">
                <a:latin typeface="Comic Sans MS" panose="030F0702030302020204" pitchFamily="66" charset="0"/>
              </a:rPr>
              <a:t>UI </a:t>
            </a:r>
            <a:r>
              <a:rPr sz="1600" dirty="0" err="1">
                <a:latin typeface="Comic Sans MS" panose="030F0702030302020204" pitchFamily="66" charset="0"/>
              </a:rPr>
              <a:t>nativ</a:t>
            </a:r>
            <a:r>
              <a:rPr sz="1600" dirty="0">
                <a:latin typeface="Comic Sans MS" panose="030F0702030302020204" pitchFamily="66" charset="0"/>
              </a:rPr>
              <a:t>, </a:t>
            </a:r>
            <a:r>
              <a:rPr sz="1600" dirty="0" err="1">
                <a:latin typeface="Comic Sans MS" panose="030F0702030302020204" pitchFamily="66" charset="0"/>
              </a:rPr>
              <a:t>animații</a:t>
            </a:r>
            <a:r>
              <a:rPr sz="1600" dirty="0">
                <a:latin typeface="Comic Sans MS" panose="030F0702030302020204" pitchFamily="66" charset="0"/>
              </a:rPr>
              <a:t> Material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3566160" cy="201168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840480"/>
            <a:ext cx="3566160" cy="73152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0050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8B485"/>
                </a:solidFill>
                <a:latin typeface="Lato"/>
              </a:rPr>
              <a:t>🗄️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0416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Lato"/>
              </a:rPr>
              <a:t>SQLite / Room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526280"/>
            <a:ext cx="3291840" cy="79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 dirty="0" err="1">
                <a:latin typeface="Comic Sans MS" panose="030F0702030302020204" pitchFamily="66" charset="0"/>
              </a:rPr>
              <a:t>Persistență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locală</a:t>
            </a:r>
            <a:r>
              <a:rPr sz="1600" dirty="0">
                <a:latin typeface="Comic Sans MS" panose="030F0702030302020204" pitchFamily="66" charset="0"/>
              </a:rPr>
              <a:t> + </a:t>
            </a:r>
            <a:r>
              <a:rPr sz="1600" dirty="0" err="1">
                <a:latin typeface="Comic Sans MS" panose="030F0702030302020204" pitchFamily="66" charset="0"/>
              </a:rPr>
              <a:t>sincronizare</a:t>
            </a:r>
            <a:r>
              <a:rPr sz="1600" dirty="0">
                <a:latin typeface="Comic Sans MS" panose="030F0702030302020204" pitchFamily="66" charset="0"/>
              </a:rPr>
              <a:t> cloud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840480"/>
            <a:ext cx="3566160" cy="201168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97680" y="3840480"/>
            <a:ext cx="3566160" cy="73152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34840" y="40050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8B485"/>
                </a:solidFill>
                <a:latin typeface="Lato"/>
              </a:rPr>
              <a:t>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0416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Lato"/>
              </a:rPr>
              <a:t>Retrofit + OkHttp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526280"/>
            <a:ext cx="3291840" cy="79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 dirty="0">
                <a:latin typeface="Comic Sans MS" panose="030F0702030302020204" pitchFamily="66" charset="0"/>
              </a:rPr>
              <a:t>Client REST cu caching &amp; interceptors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3840480"/>
            <a:ext cx="3566160" cy="201168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38160" y="3840480"/>
            <a:ext cx="3566160" cy="73152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8B485"/>
                </a:solidFill>
                <a:latin typeface="Lato"/>
              </a:rPr>
              <a:t>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40416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Lato"/>
              </a:rPr>
              <a:t>Hilt DI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526280"/>
            <a:ext cx="3291840" cy="79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 dirty="0" err="1">
                <a:latin typeface="Comic Sans MS" panose="030F0702030302020204" pitchFamily="66" charset="0"/>
              </a:rPr>
              <a:t>Injecție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dependențe</a:t>
            </a:r>
            <a:r>
              <a:rPr sz="1600" dirty="0">
                <a:latin typeface="Comic Sans MS" panose="030F0702030302020204" pitchFamily="66" charset="0"/>
              </a:rPr>
              <a:t> compile-time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135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Lato"/>
              </a:rPr>
              <a:t>CARACTERISTICI PRINCIPALE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2743200" cy="50292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Lato"/>
              </a:rPr>
              <a:t>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 err="1">
                <a:solidFill>
                  <a:srgbClr val="333333"/>
                </a:solidFill>
                <a:latin typeface="Lato"/>
              </a:rPr>
              <a:t>Performanță</a:t>
            </a:r>
            <a:endParaRPr sz="1600" b="1" i="0" dirty="0">
              <a:solidFill>
                <a:srgbClr val="333333"/>
              </a:solidFill>
              <a:latin typeface="Lat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3154680"/>
            <a:ext cx="2468880" cy="1990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sz="1600" dirty="0" err="1">
                <a:latin typeface="Comic Sans MS" panose="030F0702030302020204" pitchFamily="66" charset="0"/>
              </a:rPr>
              <a:t>FastAPI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asigură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latențe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minime</a:t>
            </a:r>
            <a:r>
              <a:rPr sz="1600" dirty="0">
                <a:latin typeface="Comic Sans MS" panose="030F0702030302020204" pitchFamily="66" charset="0"/>
              </a:rPr>
              <a:t> (&lt; 100ms) </a:t>
            </a:r>
            <a:r>
              <a:rPr sz="1600" dirty="0" err="1">
                <a:latin typeface="Comic Sans MS" panose="030F0702030302020204" pitchFamily="66" charset="0"/>
              </a:rPr>
              <a:t>pentru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toate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apelurile</a:t>
            </a:r>
            <a:r>
              <a:rPr sz="1600" dirty="0">
                <a:latin typeface="Comic Sans MS" panose="030F0702030302020204" pitchFamily="66" charset="0"/>
              </a:rPr>
              <a:t> REST de la </a:t>
            </a:r>
            <a:r>
              <a:rPr sz="1600" dirty="0" err="1">
                <a:latin typeface="Comic Sans MS" panose="030F0702030302020204" pitchFamily="66" charset="0"/>
              </a:rPr>
              <a:t>aplicația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mobilă</a:t>
            </a:r>
            <a:r>
              <a:rPr sz="1600" dirty="0">
                <a:latin typeface="Comic Sans MS" panose="030F0702030302020204" pitchFamily="66" charset="0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743200" cy="50292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0" y="17373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Lato"/>
              </a:rPr>
              <a:t>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606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33333"/>
                </a:solidFill>
                <a:latin typeface="Lato"/>
              </a:rPr>
              <a:t>AI Native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154680"/>
            <a:ext cx="2468880" cy="1990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600" dirty="0" err="1">
                <a:latin typeface="Comic Sans MS" panose="030F0702030302020204" pitchFamily="66" charset="0"/>
              </a:rPr>
              <a:t>Sumarizare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și</a:t>
            </a:r>
            <a:r>
              <a:rPr sz="1600" dirty="0">
                <a:latin typeface="Comic Sans MS" panose="030F0702030302020204" pitchFamily="66" charset="0"/>
              </a:rPr>
              <a:t> scoring automat </a:t>
            </a:r>
            <a:r>
              <a:rPr sz="1600" dirty="0" err="1">
                <a:latin typeface="Comic Sans MS" panose="030F0702030302020204" pitchFamily="66" charset="0"/>
              </a:rPr>
              <a:t>în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română</a:t>
            </a:r>
            <a:r>
              <a:rPr sz="1600" dirty="0">
                <a:latin typeface="Comic Sans MS" panose="030F0702030302020204" pitchFamily="66" charset="0"/>
              </a:rPr>
              <a:t> direct </a:t>
            </a:r>
            <a:r>
              <a:rPr sz="1600" dirty="0" err="1">
                <a:latin typeface="Comic Sans MS" panose="030F0702030302020204" pitchFamily="66" charset="0"/>
              </a:rPr>
              <a:t>în</a:t>
            </a:r>
            <a:r>
              <a:rPr sz="1600" dirty="0">
                <a:latin typeface="Comic Sans MS" panose="030F0702030302020204" pitchFamily="66" charset="0"/>
              </a:rPr>
              <a:t> backend via Google Gemini 2.5 Flash.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743200" cy="50292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40880" y="17373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Lato"/>
              </a:rPr>
              <a:t>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06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33333"/>
                </a:solidFill>
                <a:latin typeface="Lato"/>
              </a:rPr>
              <a:t>Offline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154680"/>
            <a:ext cx="2468880" cy="248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600" dirty="0">
                <a:latin typeface="Comic Sans MS" panose="030F0702030302020204" pitchFamily="66" charset="0"/>
              </a:rPr>
              <a:t>Room Database </a:t>
            </a:r>
            <a:r>
              <a:rPr sz="1600" dirty="0" err="1">
                <a:latin typeface="Comic Sans MS" panose="030F0702030302020204" pitchFamily="66" charset="0"/>
              </a:rPr>
              <a:t>sincronizează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articolele</a:t>
            </a:r>
            <a:r>
              <a:rPr sz="1600" dirty="0">
                <a:latin typeface="Comic Sans MS" panose="030F0702030302020204" pitchFamily="66" charset="0"/>
              </a:rPr>
              <a:t> local — </a:t>
            </a:r>
            <a:r>
              <a:rPr sz="1600" dirty="0" err="1">
                <a:latin typeface="Comic Sans MS" panose="030F0702030302020204" pitchFamily="66" charset="0"/>
              </a:rPr>
              <a:t>citire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garantată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fără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conexiune</a:t>
            </a:r>
            <a:r>
              <a:rPr sz="1600" dirty="0">
                <a:latin typeface="Comic Sans MS" panose="030F0702030302020204" pitchFamily="66" charset="0"/>
              </a:rPr>
              <a:t> internet.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71600"/>
            <a:ext cx="2743200" cy="50292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66960" y="17373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Lato"/>
              </a:rPr>
              <a:t>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606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33333"/>
                </a:solidFill>
                <a:latin typeface="Lato"/>
              </a:rPr>
              <a:t>Modern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154680"/>
            <a:ext cx="2468880" cy="1990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600" dirty="0">
                <a:latin typeface="Comic Sans MS" panose="030F0702030302020204" pitchFamily="66" charset="0"/>
              </a:rPr>
              <a:t>Design Material 3 cu </a:t>
            </a:r>
            <a:r>
              <a:rPr sz="1600" dirty="0" err="1">
                <a:latin typeface="Comic Sans MS" panose="030F0702030302020204" pitchFamily="66" charset="0"/>
              </a:rPr>
              <a:t>animații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fluide</a:t>
            </a:r>
            <a:r>
              <a:rPr sz="1600" dirty="0">
                <a:latin typeface="Comic Sans MS" panose="030F0702030302020204" pitchFamily="66" charset="0"/>
              </a:rPr>
              <a:t>, shimmer loading </a:t>
            </a:r>
            <a:r>
              <a:rPr sz="1600" dirty="0" err="1">
                <a:latin typeface="Comic Sans MS" panose="030F0702030302020204" pitchFamily="66" charset="0"/>
              </a:rPr>
              <a:t>și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suport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complet</a:t>
            </a:r>
            <a:r>
              <a:rPr sz="1600" dirty="0">
                <a:latin typeface="Comic Sans MS" panose="030F0702030302020204" pitchFamily="66" charset="0"/>
              </a:rPr>
              <a:t> Dark/Light.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 dirty="0">
                <a:solidFill>
                  <a:srgbClr val="FFFFFF"/>
                </a:solidFill>
                <a:latin typeface="Lato"/>
              </a:rPr>
              <a:t>ARHITECTURA MODULARĂ —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463040"/>
            <a:ext cx="3044952" cy="640080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4572000" y="1508760"/>
            <a:ext cx="3044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Lato"/>
              </a:rPr>
              <a:t>:app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42316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8" name="Rectangle 7"/>
          <p:cNvSpPr/>
          <p:nvPr/>
        </p:nvSpPr>
        <p:spPr>
          <a:xfrm>
            <a:off x="274320" y="2423160"/>
            <a:ext cx="3657600" cy="635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8B485"/>
                </a:solidFill>
                <a:latin typeface="Courier New"/>
              </a:rPr>
              <a:t>:</a:t>
            </a:r>
            <a:r>
              <a:rPr sz="1400" b="1" i="0" dirty="0" err="1">
                <a:solidFill>
                  <a:srgbClr val="28B485"/>
                </a:solidFill>
                <a:latin typeface="Courier New"/>
              </a:rPr>
              <a:t>feature:news_feed</a:t>
            </a:r>
            <a:endParaRPr sz="1400" b="1" i="0" dirty="0">
              <a:solidFill>
                <a:srgbClr val="28B485"/>
              </a:solidFill>
              <a:latin typeface="Courier Ne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777777"/>
                </a:solidFill>
                <a:latin typeface="Lato"/>
              </a:rPr>
              <a:t>Feed principal
</a:t>
            </a:r>
            <a:r>
              <a:rPr sz="1400" b="0" i="0" dirty="0" err="1">
                <a:solidFill>
                  <a:srgbClr val="777777"/>
                </a:solidFill>
                <a:latin typeface="Lato"/>
              </a:rPr>
              <a:t>Articole</a:t>
            </a:r>
            <a:r>
              <a:rPr sz="1400" b="0" i="0" dirty="0">
                <a:solidFill>
                  <a:srgbClr val="777777"/>
                </a:solidFill>
                <a:latin typeface="Lato"/>
              </a:rPr>
              <a:t> + AI Score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41648" y="242316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2" name="Rectangle 11"/>
          <p:cNvSpPr/>
          <p:nvPr/>
        </p:nvSpPr>
        <p:spPr>
          <a:xfrm>
            <a:off x="4041648" y="2423160"/>
            <a:ext cx="3657600" cy="635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3" name="TextBox 12"/>
          <p:cNvSpPr txBox="1"/>
          <p:nvPr/>
        </p:nvSpPr>
        <p:spPr>
          <a:xfrm>
            <a:off x="4133088" y="2468880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85"/>
                </a:solidFill>
                <a:latin typeface="Courier New"/>
              </a:rPr>
              <a:t>:feature:article_reader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3088" y="269748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Lato"/>
              </a:rPr>
              <a:t>Cititor articol
Rezumat AI + browser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08976" y="242316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6" name="Rectangle 15"/>
          <p:cNvSpPr/>
          <p:nvPr/>
        </p:nvSpPr>
        <p:spPr>
          <a:xfrm>
            <a:off x="7808976" y="2423160"/>
            <a:ext cx="3657600" cy="635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7" name="TextBox 16"/>
          <p:cNvSpPr txBox="1"/>
          <p:nvPr/>
        </p:nvSpPr>
        <p:spPr>
          <a:xfrm>
            <a:off x="7900416" y="2468880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85"/>
                </a:solidFill>
                <a:latin typeface="Courier New"/>
              </a:rPr>
              <a:t>:feature:explore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0416" y="269748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Lato"/>
              </a:rPr>
              <a:t>Explorează
Categori &amp; filtre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5204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0" name="Rectangle 19"/>
          <p:cNvSpPr/>
          <p:nvPr/>
        </p:nvSpPr>
        <p:spPr>
          <a:xfrm>
            <a:off x="274320" y="3520440"/>
            <a:ext cx="3657600" cy="635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1" name="TextBox 20"/>
          <p:cNvSpPr txBox="1"/>
          <p:nvPr/>
        </p:nvSpPr>
        <p:spPr>
          <a:xfrm>
            <a:off x="365760" y="3566160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85"/>
                </a:solidFill>
                <a:latin typeface="Courier New"/>
              </a:rPr>
              <a:t>:feature:saved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9476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777777"/>
                </a:solidFill>
                <a:latin typeface="Lato"/>
              </a:rPr>
              <a:t>Salvate</a:t>
            </a:r>
            <a:r>
              <a:rPr sz="1400" b="0" i="0" dirty="0">
                <a:solidFill>
                  <a:srgbClr val="777777"/>
                </a:solidFill>
                <a:latin typeface="Lato"/>
              </a:rPr>
              <a:t>
Offline First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41648" y="35204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4" name="Rectangle 23"/>
          <p:cNvSpPr/>
          <p:nvPr/>
        </p:nvSpPr>
        <p:spPr>
          <a:xfrm>
            <a:off x="4041648" y="3520440"/>
            <a:ext cx="3657600" cy="635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5" name="TextBox 24"/>
          <p:cNvSpPr txBox="1"/>
          <p:nvPr/>
        </p:nvSpPr>
        <p:spPr>
          <a:xfrm>
            <a:off x="4133088" y="3566160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85"/>
                </a:solidFill>
                <a:latin typeface="Courier New"/>
              </a:rPr>
              <a:t>:feature:profile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3088" y="379476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Lato"/>
              </a:rPr>
              <a:t>Setări
Temă + onboarding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08976" y="35204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8" name="Rectangle 27"/>
          <p:cNvSpPr/>
          <p:nvPr/>
        </p:nvSpPr>
        <p:spPr>
          <a:xfrm>
            <a:off x="7808976" y="3520440"/>
            <a:ext cx="3657600" cy="635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9" name="TextBox 28"/>
          <p:cNvSpPr txBox="1"/>
          <p:nvPr/>
        </p:nvSpPr>
        <p:spPr>
          <a:xfrm>
            <a:off x="7900416" y="3566160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85"/>
                </a:solidFill>
                <a:latin typeface="Courier New"/>
              </a:rPr>
              <a:t>:feature:categories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0416" y="379476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Lato"/>
              </a:rPr>
              <a:t>Categorii
Navigare detaliată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029200"/>
            <a:ext cx="2651760" cy="594360"/>
          </a:xfrm>
          <a:prstGeom prst="rect">
            <a:avLst/>
          </a:prstGeom>
          <a:solidFill>
            <a:srgbClr val="E8FFF0"/>
          </a:solid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2" name="TextBox 31"/>
          <p:cNvSpPr txBox="1"/>
          <p:nvPr/>
        </p:nvSpPr>
        <p:spPr>
          <a:xfrm>
            <a:off x="548640" y="5080000"/>
            <a:ext cx="246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8B485"/>
                </a:solidFill>
                <a:latin typeface="Courier New"/>
              </a:rPr>
              <a:t>:</a:t>
            </a:r>
            <a:r>
              <a:rPr sz="1600" b="1" i="0" dirty="0" err="1">
                <a:solidFill>
                  <a:srgbClr val="28B485"/>
                </a:solidFill>
                <a:latin typeface="Courier New"/>
              </a:rPr>
              <a:t>core:database</a:t>
            </a:r>
            <a:endParaRPr sz="1600" b="1" i="0" dirty="0">
              <a:solidFill>
                <a:srgbClr val="28B485"/>
              </a:solidFill>
              <a:latin typeface="Courier New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48640" y="5330952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777777"/>
                </a:solidFill>
                <a:latin typeface="Lato"/>
              </a:rPr>
              <a:t>Room DB, DAOs, Entities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0" y="5029200"/>
            <a:ext cx="2651760" cy="594360"/>
          </a:xfrm>
          <a:prstGeom prst="rect">
            <a:avLst/>
          </a:prstGeom>
          <a:solidFill>
            <a:srgbClr val="E8FFF0"/>
          </a:solid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5" name="TextBox 34"/>
          <p:cNvSpPr txBox="1"/>
          <p:nvPr/>
        </p:nvSpPr>
        <p:spPr>
          <a:xfrm>
            <a:off x="3566160" y="5080000"/>
            <a:ext cx="246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Courier New"/>
              </a:rPr>
              <a:t>:core:domain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330952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Lato"/>
              </a:rPr>
              <a:t>Models, UseCases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5029200"/>
            <a:ext cx="2651760" cy="594360"/>
          </a:xfrm>
          <a:prstGeom prst="rect">
            <a:avLst/>
          </a:prstGeom>
          <a:solidFill>
            <a:srgbClr val="E8FFF0"/>
          </a:solid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8" name="TextBox 37"/>
          <p:cNvSpPr txBox="1"/>
          <p:nvPr/>
        </p:nvSpPr>
        <p:spPr>
          <a:xfrm>
            <a:off x="6583680" y="5080000"/>
            <a:ext cx="246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Courier New"/>
              </a:rPr>
              <a:t>:core:network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330952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Lato"/>
              </a:rPr>
              <a:t>Retrofit, API Service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760" y="5029200"/>
            <a:ext cx="2651760" cy="594360"/>
          </a:xfrm>
          <a:prstGeom prst="rect">
            <a:avLst/>
          </a:prstGeom>
          <a:solidFill>
            <a:srgbClr val="E8FFF0"/>
          </a:solid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41" name="TextBox 40"/>
          <p:cNvSpPr txBox="1"/>
          <p:nvPr/>
        </p:nvSpPr>
        <p:spPr>
          <a:xfrm>
            <a:off x="9601200" y="5080000"/>
            <a:ext cx="246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Courier New"/>
              </a:rPr>
              <a:t>:core:ui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5330952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Lato"/>
              </a:rPr>
              <a:t>Componente, Teme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Lato"/>
              </a:rPr>
              <a:t>FLUX ARHITECTURAL — SYSTEM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3474720" cy="5029200"/>
          </a:xfrm>
          <a:prstGeom prst="rect">
            <a:avLst/>
          </a:prstGeom>
          <a:solidFill>
            <a:srgbClr val="F7FFFA"/>
          </a:solidFill>
          <a:ln w="1905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365760" y="1536192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C57A"/>
                </a:solidFill>
                <a:latin typeface="Lato"/>
              </a:rPr>
              <a:t>Android 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463040"/>
            <a:ext cx="4114800" cy="5029200"/>
          </a:xfrm>
          <a:prstGeom prst="rect">
            <a:avLst/>
          </a:prstGeom>
          <a:solidFill>
            <a:srgbClr val="F7FFFA"/>
          </a:solidFill>
          <a:ln w="1905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4206240" y="1536192"/>
            <a:ext cx="3931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85"/>
                </a:solidFill>
                <a:latin typeface="Lato"/>
              </a:rPr>
              <a:t>FastAPI Backend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463040"/>
            <a:ext cx="3200400" cy="2194560"/>
          </a:xfrm>
          <a:prstGeom prst="rect">
            <a:avLst/>
          </a:prstGeom>
          <a:solidFill>
            <a:srgbClr val="F7F7F7"/>
          </a:solidFill>
          <a:ln w="1905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8686800" y="153619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77777"/>
                </a:solidFill>
                <a:latin typeface="Lato"/>
              </a:rPr>
              <a:t>Externe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4023360"/>
            <a:ext cx="3200400" cy="2468880"/>
          </a:xfrm>
          <a:prstGeom prst="rect">
            <a:avLst/>
          </a:prstGeom>
          <a:solidFill>
            <a:srgbClr val="F7F7F7"/>
          </a:solidFill>
          <a:ln w="1905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8686800" y="409651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77777"/>
                </a:solidFill>
                <a:latin typeface="Lato"/>
              </a:rPr>
              <a:t>Persistență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3017520" cy="457200"/>
          </a:xfrm>
          <a:prstGeom prst="rect">
            <a:avLst/>
          </a:prstGeom>
          <a:solidFill>
            <a:srgbClr val="D4F5E0"/>
          </a:solidFill>
          <a:ln w="9525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48640" y="206248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Lato"/>
              </a:rPr>
              <a:t>NewsFeedScreen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51760"/>
            <a:ext cx="3017520" cy="457200"/>
          </a:xfrm>
          <a:prstGeom prst="rect">
            <a:avLst/>
          </a:prstGeom>
          <a:solidFill>
            <a:srgbClr val="D4F5E0"/>
          </a:solidFill>
          <a:ln w="9525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548640" y="270256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Lato"/>
              </a:rPr>
              <a:t>ViewModel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91840"/>
            <a:ext cx="3017520" cy="457200"/>
          </a:xfrm>
          <a:prstGeom prst="rect">
            <a:avLst/>
          </a:prstGeom>
          <a:solidFill>
            <a:srgbClr val="D4F5E0"/>
          </a:solidFill>
          <a:ln w="9525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548640" y="334264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Lato"/>
              </a:rPr>
              <a:t>Repository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3017520" cy="457200"/>
          </a:xfrm>
          <a:prstGeom prst="rect">
            <a:avLst/>
          </a:prstGeom>
          <a:solidFill>
            <a:srgbClr val="D4F5E0"/>
          </a:solidFill>
          <a:ln w="9525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548640" y="398272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8B485"/>
                </a:solidFill>
                <a:latin typeface="Lato"/>
              </a:rPr>
              <a:t>Retrofit Client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3017520" cy="457200"/>
          </a:xfrm>
          <a:prstGeom prst="rect">
            <a:avLst/>
          </a:prstGeom>
          <a:solidFill>
            <a:srgbClr val="D4F5E0"/>
          </a:solidFill>
          <a:ln w="9525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548640" y="462280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Lato"/>
              </a:rPr>
              <a:t>Room DB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011680"/>
            <a:ext cx="3566160" cy="457200"/>
          </a:xfrm>
          <a:prstGeom prst="rect">
            <a:avLst/>
          </a:prstGeom>
          <a:solidFill>
            <a:srgbClr val="CCF2E5"/>
          </a:solidFill>
          <a:ln w="9525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4389120" y="206248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Lato"/>
              </a:rPr>
              <a:t>REST API Endpoints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2651760"/>
            <a:ext cx="3566160" cy="457200"/>
          </a:xfrm>
          <a:prstGeom prst="rect">
            <a:avLst/>
          </a:prstGeom>
          <a:solidFill>
            <a:srgbClr val="CCF2E5"/>
          </a:solidFill>
          <a:ln w="9525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4389120" y="270256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Lato"/>
              </a:rPr>
              <a:t>ai_service.py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291840"/>
            <a:ext cx="3566160" cy="457200"/>
          </a:xfrm>
          <a:prstGeom prst="rect">
            <a:avLst/>
          </a:prstGeom>
          <a:solidFill>
            <a:srgbClr val="CCF2E5"/>
          </a:solidFill>
          <a:ln w="9525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4389120" y="334264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Lato"/>
              </a:rPr>
              <a:t>rss_service.py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931920"/>
            <a:ext cx="3566160" cy="457200"/>
          </a:xfrm>
          <a:prstGeom prst="rect">
            <a:avLst/>
          </a:prstGeom>
          <a:solidFill>
            <a:srgbClr val="CCF2E5"/>
          </a:solidFill>
          <a:ln w="9525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4389120" y="398272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Lato"/>
              </a:rPr>
              <a:t>scheduler_task.py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4572000"/>
            <a:ext cx="3566160" cy="457200"/>
          </a:xfrm>
          <a:prstGeom prst="rect">
            <a:avLst/>
          </a:prstGeom>
          <a:solidFill>
            <a:srgbClr val="CCF2E5"/>
          </a:solidFill>
          <a:ln w="9525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2" name="TextBox 31"/>
          <p:cNvSpPr txBox="1"/>
          <p:nvPr/>
        </p:nvSpPr>
        <p:spPr>
          <a:xfrm>
            <a:off x="4389120" y="462280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85"/>
                </a:solidFill>
                <a:latin typeface="Lato"/>
              </a:rPr>
              <a:t>database.py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2091749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Lato"/>
              </a:rPr>
              <a:t>🌐 Surse RSS / Bloguri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259467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Lato"/>
              </a:rPr>
              <a:t>✨ Google Gemini 2.5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446919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Lato"/>
              </a:rPr>
              <a:t>💾 SQLite: </a:t>
            </a:r>
            <a:r>
              <a:rPr sz="1600" b="0" i="0" dirty="0" err="1">
                <a:solidFill>
                  <a:srgbClr val="333333"/>
                </a:solidFill>
                <a:latin typeface="Lato"/>
              </a:rPr>
              <a:t>data_agregate.db</a:t>
            </a:r>
            <a:endParaRPr sz="1600" b="0" i="0" dirty="0">
              <a:solidFill>
                <a:srgbClr val="333333"/>
              </a:solidFill>
              <a:latin typeface="Lato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823960" y="497211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Lato"/>
              </a:rPr>
              <a:t>📱 Room DB: Local Cache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66160"/>
            <a:ext cx="731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8B485"/>
                </a:solidFill>
                <a:latin typeface="Lato"/>
              </a:rPr>
              <a:t>REST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2194560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77777"/>
                </a:solidFill>
                <a:latin typeface="Lato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2834640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77777"/>
                </a:solidFill>
                <a:latin typeface="Lato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4251960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77777"/>
                </a:solidFill>
                <a:latin typeface="Lato"/>
              </a:rPr>
              <a:t>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Lato"/>
              </a:rPr>
              <a:t>PIPELINE AI — ai_service.py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5544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554480" cy="91440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1214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55C57A"/>
                </a:solidFill>
                <a:latin typeface="La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371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333333"/>
                </a:solidFill>
                <a:latin typeface="Lato"/>
              </a:rPr>
              <a:t>Articol</a:t>
            </a:r>
            <a:r>
              <a:rPr sz="1400" b="0" i="0" dirty="0">
                <a:solidFill>
                  <a:srgbClr val="333333"/>
                </a:solidFill>
                <a:latin typeface="Lato"/>
              </a:rPr>
              <a:t> Pending
din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95728" y="2011680"/>
            <a:ext cx="15544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395728" y="2011680"/>
            <a:ext cx="1554480" cy="9144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95728" y="21214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8B485"/>
                </a:solidFill>
                <a:latin typeface="La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1371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  <a:latin typeface="Lato"/>
              </a:rPr>
              <a:t>Model Selector
(Primary/Fallback)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95928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4256" y="2011680"/>
            <a:ext cx="15544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34256" y="2011680"/>
            <a:ext cx="1554480" cy="9144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34256" y="21214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8A2BE2"/>
                </a:solidFill>
                <a:latin typeface="Lat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2651760"/>
            <a:ext cx="1371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  <a:latin typeface="Lato"/>
              </a:rPr>
              <a:t>Gemini 2.5 Flash
Sau DeepSeek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34456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2784" y="2011680"/>
            <a:ext cx="15544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72784" y="2011680"/>
            <a:ext cx="1554480" cy="914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72784" y="21214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67E22"/>
                </a:solidFill>
                <a:latin typeface="Lat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651760"/>
            <a:ext cx="1371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  <a:latin typeface="Lato"/>
              </a:rPr>
              <a:t>ENRICH_PROMPT
→ JSON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72984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11312" y="2011680"/>
            <a:ext cx="15544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11312" y="2011680"/>
            <a:ext cx="155448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11312" y="21214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74C3C"/>
                </a:solidFill>
                <a:latin typeface="Lat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2651760"/>
            <a:ext cx="137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  <a:latin typeface="Lato"/>
              </a:rPr>
              <a:t>Validare JSON
&amp; Retry logic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1512" y="2606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0" y="2011680"/>
            <a:ext cx="15544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149840" y="2011680"/>
            <a:ext cx="1554480" cy="91440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49840" y="21214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55C57A"/>
                </a:solidFill>
                <a:latin typeface="Lat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2651760"/>
            <a:ext cx="1371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  <a:latin typeface="Lato"/>
              </a:rPr>
              <a:t>Update DB:
Score, Summary, Tags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31920"/>
            <a:ext cx="11274552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3931920"/>
            <a:ext cx="73152" cy="2468880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4069080"/>
            <a:ext cx="1051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8B485"/>
                </a:solidFill>
                <a:latin typeface="Lato"/>
              </a:rPr>
              <a:t>ENRICH_PROMPT include: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80560"/>
            <a:ext cx="10972800" cy="1708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dirty="0">
                <a:latin typeface="Comic Sans MS" panose="030F0702030302020204" pitchFamily="66" charset="0"/>
              </a:rPr>
              <a:t>• </a:t>
            </a:r>
            <a:r>
              <a:rPr dirty="0" err="1">
                <a:latin typeface="Comic Sans MS" panose="030F0702030302020204" pitchFamily="66" charset="0"/>
              </a:rPr>
              <a:t>Titlu</a:t>
            </a:r>
            <a:r>
              <a:rPr dirty="0">
                <a:latin typeface="Comic Sans MS" panose="030F0702030302020204" pitchFamily="66" charset="0"/>
              </a:rPr>
              <a:t> + </a:t>
            </a:r>
            <a:r>
              <a:rPr dirty="0" err="1">
                <a:latin typeface="Comic Sans MS" panose="030F0702030302020204" pitchFamily="66" charset="0"/>
              </a:rPr>
              <a:t>conținut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articol</a:t>
            </a:r>
            <a:r>
              <a:rPr dirty="0">
                <a:latin typeface="Comic Sans MS" panose="030F0702030302020204" pitchFamily="66" charset="0"/>
              </a:rPr>
              <a:t> → </a:t>
            </a:r>
            <a:r>
              <a:rPr dirty="0" err="1">
                <a:latin typeface="Comic Sans MS" panose="030F0702030302020204" pitchFamily="66" charset="0"/>
              </a:rPr>
              <a:t>Rezumat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în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română</a:t>
            </a:r>
            <a:r>
              <a:rPr dirty="0">
                <a:latin typeface="Comic Sans MS" panose="030F0702030302020204" pitchFamily="66" charset="0"/>
              </a:rPr>
              <a:t> (3-5 </a:t>
            </a:r>
            <a:r>
              <a:rPr dirty="0" err="1">
                <a:latin typeface="Comic Sans MS" panose="030F0702030302020204" pitchFamily="66" charset="0"/>
              </a:rPr>
              <a:t>propoziții</a:t>
            </a:r>
            <a:r>
              <a:rPr dirty="0">
                <a:latin typeface="Comic Sans MS" panose="030F0702030302020204" pitchFamily="66" charset="0"/>
              </a:rPr>
              <a:t> concise)</a:t>
            </a:r>
          </a:p>
          <a:p>
            <a:pPr algn="l">
              <a:lnSpc>
                <a:spcPct val="150000"/>
              </a:lnSpc>
            </a:pPr>
            <a:r>
              <a:rPr dirty="0">
                <a:latin typeface="Comic Sans MS" panose="030F0702030302020204" pitchFamily="66" charset="0"/>
              </a:rPr>
              <a:t>• AI Score 0-100 </a:t>
            </a:r>
            <a:r>
              <a:rPr dirty="0" err="1">
                <a:latin typeface="Comic Sans MS" panose="030F0702030302020204" pitchFamily="66" charset="0"/>
              </a:rPr>
              <a:t>bazat</a:t>
            </a:r>
            <a:r>
              <a:rPr dirty="0">
                <a:latin typeface="Comic Sans MS" panose="030F0702030302020204" pitchFamily="66" charset="0"/>
              </a:rPr>
              <a:t> pe </a:t>
            </a:r>
            <a:r>
              <a:rPr dirty="0" err="1">
                <a:latin typeface="Comic Sans MS" panose="030F0702030302020204" pitchFamily="66" charset="0"/>
              </a:rPr>
              <a:t>relevanță</a:t>
            </a:r>
            <a:r>
              <a:rPr dirty="0">
                <a:latin typeface="Comic Sans MS" panose="030F0702030302020204" pitchFamily="66" charset="0"/>
              </a:rPr>
              <a:t>, </a:t>
            </a:r>
            <a:r>
              <a:rPr dirty="0" err="1">
                <a:latin typeface="Comic Sans MS" panose="030F0702030302020204" pitchFamily="66" charset="0"/>
              </a:rPr>
              <a:t>noutate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și</a:t>
            </a:r>
            <a:r>
              <a:rPr dirty="0">
                <a:latin typeface="Comic Sans MS" panose="030F0702030302020204" pitchFamily="66" charset="0"/>
              </a:rPr>
              <a:t> impact </a:t>
            </a:r>
            <a:r>
              <a:rPr dirty="0" err="1">
                <a:latin typeface="Comic Sans MS" panose="030F0702030302020204" pitchFamily="66" charset="0"/>
              </a:rPr>
              <a:t>tehnic</a:t>
            </a:r>
            <a:endParaRPr dirty="0">
              <a:latin typeface="Comic Sans MS" panose="030F0702030302020204" pitchFamily="66" charset="0"/>
            </a:endParaRPr>
          </a:p>
          <a:p>
            <a:pPr algn="l">
              <a:lnSpc>
                <a:spcPct val="150000"/>
              </a:lnSpc>
            </a:pPr>
            <a:r>
              <a:rPr dirty="0">
                <a:latin typeface="Comic Sans MS" panose="030F0702030302020204" pitchFamily="66" charset="0"/>
              </a:rPr>
              <a:t>• Lista de tags/</a:t>
            </a:r>
            <a:r>
              <a:rPr dirty="0" err="1">
                <a:latin typeface="Comic Sans MS" panose="030F0702030302020204" pitchFamily="66" charset="0"/>
              </a:rPr>
              <a:t>categorii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detectate</a:t>
            </a:r>
            <a:r>
              <a:rPr dirty="0">
                <a:latin typeface="Comic Sans MS" panose="030F0702030302020204" pitchFamily="66" charset="0"/>
              </a:rPr>
              <a:t> automat (AI, Security, Dev, etc.)</a:t>
            </a:r>
          </a:p>
          <a:p>
            <a:pPr algn="l">
              <a:lnSpc>
                <a:spcPct val="150000"/>
              </a:lnSpc>
            </a:pPr>
            <a:r>
              <a:rPr dirty="0">
                <a:latin typeface="Comic Sans MS" panose="030F0702030302020204" pitchFamily="66" charset="0"/>
              </a:rPr>
              <a:t>• Fallback: DeepSeek Chat </a:t>
            </a:r>
            <a:r>
              <a:rPr dirty="0" err="1">
                <a:latin typeface="Comic Sans MS" panose="030F0702030302020204" pitchFamily="66" charset="0"/>
              </a:rPr>
              <a:t>dacă</a:t>
            </a:r>
            <a:r>
              <a:rPr dirty="0">
                <a:latin typeface="Comic Sans MS" panose="030F0702030302020204" pitchFamily="66" charset="0"/>
              </a:rPr>
              <a:t> Gemini </a:t>
            </a:r>
            <a:r>
              <a:rPr dirty="0" err="1">
                <a:latin typeface="Comic Sans MS" panose="030F0702030302020204" pitchFamily="66" charset="0"/>
              </a:rPr>
              <a:t>returnează</a:t>
            </a:r>
            <a:r>
              <a:rPr dirty="0">
                <a:latin typeface="Comic Sans MS" panose="030F0702030302020204" pitchFamily="66" charset="0"/>
              </a:rPr>
              <a:t> rate-limit </a:t>
            </a:r>
            <a:r>
              <a:rPr dirty="0" err="1">
                <a:latin typeface="Comic Sans MS" panose="030F0702030302020204" pitchFamily="66" charset="0"/>
              </a:rPr>
              <a:t>sau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eroare</a:t>
            </a:r>
            <a:endParaRPr dirty="0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sz="16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Lato"/>
              </a:rPr>
              <a:t>BACKEND DEEP DIVE — FIȘIERE CHEIE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56616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566160" cy="64008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Lato"/>
              </a:rPr>
              <a:t>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706" y="1641455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333333"/>
                </a:solidFill>
                <a:latin typeface="Courier New"/>
              </a:rPr>
              <a:t>main.py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627632"/>
            <a:ext cx="1143000" cy="256032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2788920" y="1636776"/>
            <a:ext cx="1143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Lato"/>
              </a:rPr>
              <a:t>CORE /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27789"/>
            <a:ext cx="3383280" cy="892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dirty="0" err="1">
                <a:latin typeface="Comic Sans MS" panose="030F0702030302020204" pitchFamily="66" charset="0"/>
              </a:rPr>
              <a:t>Punct</a:t>
            </a:r>
            <a:r>
              <a:rPr sz="1200" dirty="0">
                <a:latin typeface="Comic Sans MS" panose="030F0702030302020204" pitchFamily="66" charset="0"/>
              </a:rPr>
              <a:t> de </a:t>
            </a:r>
            <a:r>
              <a:rPr sz="1200" dirty="0" err="1">
                <a:latin typeface="Comic Sans MS" panose="030F0702030302020204" pitchFamily="66" charset="0"/>
              </a:rPr>
              <a:t>intrare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FastAPI</a:t>
            </a:r>
            <a:r>
              <a:rPr sz="1200" dirty="0">
                <a:latin typeface="Comic Sans MS" panose="030F0702030302020204" pitchFamily="66" charset="0"/>
              </a:rPr>
              <a:t>. </a:t>
            </a:r>
            <a:r>
              <a:rPr sz="1200" dirty="0" err="1">
                <a:latin typeface="Comic Sans MS" panose="030F0702030302020204" pitchFamily="66" charset="0"/>
              </a:rPr>
              <a:t>Configurează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ciclu</a:t>
            </a:r>
            <a:r>
              <a:rPr sz="1200" dirty="0">
                <a:latin typeface="Comic Sans MS" panose="030F0702030302020204" pitchFamily="66" charset="0"/>
              </a:rPr>
              <a:t> de </a:t>
            </a:r>
            <a:r>
              <a:rPr sz="1200" dirty="0" err="1">
                <a:latin typeface="Comic Sans MS" panose="030F0702030302020204" pitchFamily="66" charset="0"/>
              </a:rPr>
              <a:t>viață</a:t>
            </a:r>
            <a:r>
              <a:rPr sz="1200" dirty="0">
                <a:latin typeface="Comic Sans MS" panose="030F0702030302020204" pitchFamily="66" charset="0"/>
              </a:rPr>
              <a:t>, </a:t>
            </a:r>
            <a:r>
              <a:rPr sz="1200" dirty="0" err="1">
                <a:latin typeface="Comic Sans MS" panose="030F0702030302020204" pitchFamily="66" charset="0"/>
              </a:rPr>
              <a:t>rutele</a:t>
            </a:r>
            <a:r>
              <a:rPr sz="1200" dirty="0">
                <a:latin typeface="Comic Sans MS" panose="030F0702030302020204" pitchFamily="66" charset="0"/>
              </a:rPr>
              <a:t> REST </a:t>
            </a:r>
            <a:r>
              <a:rPr sz="1200" dirty="0" err="1">
                <a:latin typeface="Comic Sans MS" panose="030F0702030302020204" pitchFamily="66" charset="0"/>
              </a:rPr>
              <a:t>și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pornește</a:t>
            </a:r>
            <a:r>
              <a:rPr sz="1200" dirty="0">
                <a:latin typeface="Comic Sans MS" panose="030F0702030302020204" pitchFamily="66" charset="0"/>
              </a:rPr>
              <a:t> scheduler-ul.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63040"/>
            <a:ext cx="356616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3566160" cy="64008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4434840" y="1572768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Lato"/>
              </a:rPr>
              <a:t>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7906" y="1641455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ourier New"/>
              </a:rPr>
              <a:t>ai_service.py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1627632"/>
            <a:ext cx="1143000" cy="256032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TextBox 16"/>
          <p:cNvSpPr txBox="1"/>
          <p:nvPr/>
        </p:nvSpPr>
        <p:spPr>
          <a:xfrm>
            <a:off x="6675120" y="1636776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Lato"/>
              </a:rPr>
              <a:t>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927789"/>
            <a:ext cx="3383280" cy="892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200" dirty="0" err="1">
                <a:latin typeface="Comic Sans MS" panose="030F0702030302020204" pitchFamily="66" charset="0"/>
              </a:rPr>
              <a:t>Comunicare</a:t>
            </a:r>
            <a:r>
              <a:rPr sz="1200" dirty="0">
                <a:latin typeface="Comic Sans MS" panose="030F0702030302020204" pitchFamily="66" charset="0"/>
              </a:rPr>
              <a:t> Google Gemini. </a:t>
            </a:r>
            <a:r>
              <a:rPr sz="1200" dirty="0" err="1">
                <a:latin typeface="Comic Sans MS" panose="030F0702030302020204" pitchFamily="66" charset="0"/>
              </a:rPr>
              <a:t>Generează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rezumate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în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română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și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calculează</a:t>
            </a:r>
            <a:r>
              <a:rPr sz="1200" dirty="0">
                <a:latin typeface="Comic Sans MS" panose="030F0702030302020204" pitchFamily="66" charset="0"/>
              </a:rPr>
              <a:t> AI Score 0-100.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463040"/>
            <a:ext cx="356616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Rectangle 19"/>
          <p:cNvSpPr/>
          <p:nvPr/>
        </p:nvSpPr>
        <p:spPr>
          <a:xfrm>
            <a:off x="8229600" y="1463040"/>
            <a:ext cx="3566160" cy="64008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TextBox 20"/>
          <p:cNvSpPr txBox="1"/>
          <p:nvPr/>
        </p:nvSpPr>
        <p:spPr>
          <a:xfrm>
            <a:off x="8321040" y="1572768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Lato"/>
              </a:rPr>
              <a:t>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4106" y="1641455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ourier New"/>
              </a:rPr>
              <a:t>rss_service.py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61320" y="1627632"/>
            <a:ext cx="1143000" cy="256032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TextBox 23"/>
          <p:cNvSpPr txBox="1"/>
          <p:nvPr/>
        </p:nvSpPr>
        <p:spPr>
          <a:xfrm>
            <a:off x="10561320" y="1636776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Lato"/>
              </a:rPr>
              <a:t>NETWORKING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1927789"/>
            <a:ext cx="3383280" cy="892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200" dirty="0" err="1">
                <a:latin typeface="Comic Sans MS" panose="030F0702030302020204" pitchFamily="66" charset="0"/>
              </a:rPr>
              <a:t>Parsează</a:t>
            </a:r>
            <a:r>
              <a:rPr sz="1200" dirty="0">
                <a:latin typeface="Comic Sans MS" panose="030F0702030302020204" pitchFamily="66" charset="0"/>
              </a:rPr>
              <a:t> feed-</a:t>
            </a:r>
            <a:r>
              <a:rPr sz="1200" dirty="0" err="1">
                <a:latin typeface="Comic Sans MS" panose="030F0702030302020204" pitchFamily="66" charset="0"/>
              </a:rPr>
              <a:t>uri</a:t>
            </a:r>
            <a:r>
              <a:rPr sz="1200" dirty="0">
                <a:latin typeface="Comic Sans MS" panose="030F0702030302020204" pitchFamily="66" charset="0"/>
              </a:rPr>
              <a:t> RSS cu </a:t>
            </a:r>
            <a:r>
              <a:rPr sz="1200" dirty="0" err="1">
                <a:latin typeface="Comic Sans MS" panose="030F0702030302020204" pitchFamily="66" charset="0"/>
              </a:rPr>
              <a:t>feedparser</a:t>
            </a:r>
            <a:r>
              <a:rPr sz="1200" dirty="0">
                <a:latin typeface="Comic Sans MS" panose="030F0702030302020204" pitchFamily="66" charset="0"/>
              </a:rPr>
              <a:t>. </a:t>
            </a:r>
            <a:r>
              <a:rPr sz="1200" dirty="0" err="1">
                <a:latin typeface="Comic Sans MS" panose="030F0702030302020204" pitchFamily="66" charset="0"/>
              </a:rPr>
              <a:t>Filtrează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articolele</a:t>
            </a:r>
            <a:r>
              <a:rPr sz="1200" dirty="0">
                <a:latin typeface="Comic Sans MS" panose="030F0702030302020204" pitchFamily="66" charset="0"/>
              </a:rPr>
              <a:t> &lt; 24h </a:t>
            </a:r>
            <a:r>
              <a:rPr sz="1200" dirty="0" err="1">
                <a:latin typeface="Comic Sans MS" panose="030F0702030302020204" pitchFamily="66" charset="0"/>
              </a:rPr>
              <a:t>și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inițiază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procesarea</a:t>
            </a:r>
            <a:r>
              <a:rPr sz="1200" dirty="0">
                <a:latin typeface="Comic Sans MS" panose="030F0702030302020204" pitchFamily="66" charset="0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81528"/>
            <a:ext cx="356616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Rectangle 26"/>
          <p:cNvSpPr/>
          <p:nvPr/>
        </p:nvSpPr>
        <p:spPr>
          <a:xfrm>
            <a:off x="457200" y="3081528"/>
            <a:ext cx="3566160" cy="64008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8" name="TextBox 27"/>
          <p:cNvSpPr txBox="1"/>
          <p:nvPr/>
        </p:nvSpPr>
        <p:spPr>
          <a:xfrm>
            <a:off x="548640" y="3191256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Lato"/>
              </a:rPr>
              <a:t>🗄️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706" y="3259943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ourier New"/>
              </a:rPr>
              <a:t>database.py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88920" y="3246120"/>
            <a:ext cx="1143000" cy="256032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TextBox 30"/>
          <p:cNvSpPr txBox="1"/>
          <p:nvPr/>
        </p:nvSpPr>
        <p:spPr>
          <a:xfrm>
            <a:off x="2788920" y="3255264"/>
            <a:ext cx="1143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Lato"/>
              </a:rPr>
              <a:t>PERSISTENCE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546277"/>
            <a:ext cx="3383280" cy="615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dirty="0" err="1">
                <a:latin typeface="Comic Sans MS" panose="030F0702030302020204" pitchFamily="66" charset="0"/>
              </a:rPr>
              <a:t>Abstracție</a:t>
            </a:r>
            <a:r>
              <a:rPr sz="1200" dirty="0">
                <a:latin typeface="Comic Sans MS" panose="030F0702030302020204" pitchFamily="66" charset="0"/>
              </a:rPr>
              <a:t> SQLite. CRUD </a:t>
            </a:r>
            <a:r>
              <a:rPr sz="1200" dirty="0" err="1">
                <a:latin typeface="Comic Sans MS" panose="030F0702030302020204" pitchFamily="66" charset="0"/>
              </a:rPr>
              <a:t>complet</a:t>
            </a:r>
            <a:r>
              <a:rPr sz="1200" dirty="0">
                <a:latin typeface="Comic Sans MS" panose="030F0702030302020204" pitchFamily="66" charset="0"/>
              </a:rPr>
              <a:t>: </a:t>
            </a:r>
            <a:r>
              <a:rPr sz="1200" dirty="0" err="1">
                <a:latin typeface="Comic Sans MS" panose="030F0702030302020204" pitchFamily="66" charset="0"/>
              </a:rPr>
              <a:t>articole</a:t>
            </a:r>
            <a:r>
              <a:rPr sz="1200" dirty="0">
                <a:latin typeface="Comic Sans MS" panose="030F0702030302020204" pitchFamily="66" charset="0"/>
              </a:rPr>
              <a:t>, </a:t>
            </a:r>
            <a:r>
              <a:rPr sz="1200" dirty="0" err="1">
                <a:latin typeface="Comic Sans MS" panose="030F0702030302020204" pitchFamily="66" charset="0"/>
              </a:rPr>
              <a:t>surse</a:t>
            </a:r>
            <a:r>
              <a:rPr sz="1200" dirty="0">
                <a:latin typeface="Comic Sans MS" panose="030F0702030302020204" pitchFamily="66" charset="0"/>
              </a:rPr>
              <a:t> RSS, </a:t>
            </a:r>
            <a:r>
              <a:rPr sz="1200" dirty="0" err="1">
                <a:latin typeface="Comic Sans MS" panose="030F0702030302020204" pitchFamily="66" charset="0"/>
              </a:rPr>
              <a:t>device_seen</a:t>
            </a:r>
            <a:r>
              <a:rPr sz="1200" dirty="0">
                <a:latin typeface="Comic Sans MS" panose="030F0702030302020204" pitchFamily="66" charset="0"/>
              </a:rPr>
              <a:t>, </a:t>
            </a:r>
            <a:r>
              <a:rPr sz="1200" dirty="0" err="1">
                <a:latin typeface="Comic Sans MS" panose="030F0702030302020204" pitchFamily="66" charset="0"/>
              </a:rPr>
              <a:t>setări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globale</a:t>
            </a:r>
            <a:r>
              <a:rPr sz="1200" dirty="0">
                <a:latin typeface="Comic Sans MS" panose="030F0702030302020204" pitchFamily="66" charset="0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3081528"/>
            <a:ext cx="356616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4" name="Rectangle 33"/>
          <p:cNvSpPr/>
          <p:nvPr/>
        </p:nvSpPr>
        <p:spPr>
          <a:xfrm>
            <a:off x="4343400" y="3081528"/>
            <a:ext cx="3566160" cy="64008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5" name="TextBox 34"/>
          <p:cNvSpPr txBox="1"/>
          <p:nvPr/>
        </p:nvSpPr>
        <p:spPr>
          <a:xfrm>
            <a:off x="4434840" y="3191256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Lato"/>
              </a:rPr>
              <a:t>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0" y="3246120"/>
            <a:ext cx="1143000" cy="256032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8" name="TextBox 37"/>
          <p:cNvSpPr txBox="1"/>
          <p:nvPr/>
        </p:nvSpPr>
        <p:spPr>
          <a:xfrm>
            <a:off x="6675120" y="3255264"/>
            <a:ext cx="1143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Lato"/>
              </a:rPr>
              <a:t>AUTOMATION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4840" y="3546277"/>
            <a:ext cx="3383280" cy="615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200" dirty="0" err="1">
                <a:latin typeface="Comic Sans MS" panose="030F0702030302020204" pitchFamily="66" charset="0"/>
              </a:rPr>
              <a:t>APScheduler</a:t>
            </a:r>
            <a:r>
              <a:rPr sz="1200" dirty="0">
                <a:latin typeface="Comic Sans MS" panose="030F0702030302020204" pitchFamily="66" charset="0"/>
              </a:rPr>
              <a:t> — jobs </a:t>
            </a:r>
            <a:r>
              <a:rPr sz="1200" dirty="0" err="1">
                <a:latin typeface="Comic Sans MS" panose="030F0702030302020204" pitchFamily="66" charset="0"/>
              </a:rPr>
              <a:t>periodice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pentru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actualizarea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automată</a:t>
            </a:r>
            <a:r>
              <a:rPr sz="1200" dirty="0">
                <a:latin typeface="Comic Sans MS" panose="030F0702030302020204" pitchFamily="66" charset="0"/>
              </a:rPr>
              <a:t> a </a:t>
            </a:r>
            <a:r>
              <a:rPr sz="1200" dirty="0" err="1">
                <a:latin typeface="Comic Sans MS" panose="030F0702030302020204" pitchFamily="66" charset="0"/>
              </a:rPr>
              <a:t>știrilor</a:t>
            </a:r>
            <a:r>
              <a:rPr sz="1200" dirty="0">
                <a:latin typeface="Comic Sans MS" panose="030F0702030302020204" pitchFamily="66" charset="0"/>
              </a:rPr>
              <a:t> la intervale.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3081528"/>
            <a:ext cx="356616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1" name="Rectangle 40"/>
          <p:cNvSpPr/>
          <p:nvPr/>
        </p:nvSpPr>
        <p:spPr>
          <a:xfrm>
            <a:off x="8229600" y="3081528"/>
            <a:ext cx="3566160" cy="64008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8321040" y="3191256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Lato"/>
              </a:rPr>
              <a:t>⚙️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14106" y="3259943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ourier New"/>
              </a:rPr>
              <a:t>config.py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561320" y="3246120"/>
            <a:ext cx="1143000" cy="256032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5" name="TextBox 44"/>
          <p:cNvSpPr txBox="1"/>
          <p:nvPr/>
        </p:nvSpPr>
        <p:spPr>
          <a:xfrm>
            <a:off x="10561320" y="325526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Lato"/>
              </a:rPr>
              <a:t>CONFIGURATION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3546277"/>
            <a:ext cx="3383280" cy="614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dirty="0" err="1">
                <a:latin typeface="Comic Sans MS" panose="030F0702030302020204" pitchFamily="66" charset="0"/>
              </a:rPr>
              <a:t>Chei</a:t>
            </a:r>
            <a:r>
              <a:rPr sz="1200" dirty="0">
                <a:latin typeface="Comic Sans MS" panose="030F0702030302020204" pitchFamily="66" charset="0"/>
              </a:rPr>
              <a:t> API, </a:t>
            </a:r>
            <a:r>
              <a:rPr sz="1200" dirty="0" err="1">
                <a:latin typeface="Comic Sans MS" panose="030F0702030302020204" pitchFamily="66" charset="0"/>
              </a:rPr>
              <a:t>căi</a:t>
            </a:r>
            <a:r>
              <a:rPr sz="1200" dirty="0">
                <a:latin typeface="Comic Sans MS" panose="030F0702030302020204" pitchFamily="66" charset="0"/>
              </a:rPr>
              <a:t> DB (Docker/Local), prompt-urile AI </a:t>
            </a:r>
            <a:r>
              <a:rPr sz="1200" dirty="0" err="1">
                <a:latin typeface="Comic Sans MS" panose="030F0702030302020204" pitchFamily="66" charset="0"/>
              </a:rPr>
              <a:t>centralizate</a:t>
            </a:r>
            <a:r>
              <a:rPr sz="1200" dirty="0">
                <a:latin typeface="Comic Sans MS" panose="030F0702030302020204" pitchFamily="66" charset="0"/>
              </a:rPr>
              <a:t> cu override env vars</a:t>
            </a:r>
            <a:r>
              <a:rPr sz="1200" b="0" i="0" dirty="0">
                <a:solidFill>
                  <a:srgbClr val="777777"/>
                </a:solidFill>
                <a:latin typeface="Lato"/>
              </a:rPr>
              <a:t>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700016"/>
            <a:ext cx="356616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8" name="Rectangle 47"/>
          <p:cNvSpPr/>
          <p:nvPr/>
        </p:nvSpPr>
        <p:spPr>
          <a:xfrm>
            <a:off x="457200" y="4700016"/>
            <a:ext cx="3566160" cy="64008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9" name="TextBox 48"/>
          <p:cNvSpPr txBox="1"/>
          <p:nvPr/>
        </p:nvSpPr>
        <p:spPr>
          <a:xfrm>
            <a:off x="548640" y="4809744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Lato"/>
              </a:rPr>
              <a:t>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1706" y="4878431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333333"/>
                </a:solidFill>
                <a:latin typeface="Courier New"/>
              </a:rPr>
              <a:t>utils.py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88920" y="4864608"/>
            <a:ext cx="1143000" cy="256032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2" name="TextBox 51"/>
          <p:cNvSpPr txBox="1"/>
          <p:nvPr/>
        </p:nvSpPr>
        <p:spPr>
          <a:xfrm>
            <a:off x="2788920" y="4873752"/>
            <a:ext cx="1143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Lato"/>
              </a:rPr>
              <a:t>HELPER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164765"/>
            <a:ext cx="3383280" cy="615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200" dirty="0" err="1">
                <a:latin typeface="Comic Sans MS" panose="030F0702030302020204" pitchFamily="66" charset="0"/>
              </a:rPr>
              <a:t>Curățare</a:t>
            </a:r>
            <a:r>
              <a:rPr sz="1200" dirty="0">
                <a:latin typeface="Comic Sans MS" panose="030F0702030302020204" pitchFamily="66" charset="0"/>
              </a:rPr>
              <a:t> HTML, </a:t>
            </a:r>
            <a:r>
              <a:rPr sz="1200" dirty="0" err="1">
                <a:latin typeface="Comic Sans MS" panose="030F0702030302020204" pitchFamily="66" charset="0"/>
              </a:rPr>
              <a:t>generare</a:t>
            </a:r>
            <a:r>
              <a:rPr sz="1200" dirty="0">
                <a:latin typeface="Comic Sans MS" panose="030F0702030302020204" pitchFamily="66" charset="0"/>
              </a:rPr>
              <a:t> URL Google News, </a:t>
            </a:r>
            <a:r>
              <a:rPr sz="1200" dirty="0" err="1">
                <a:latin typeface="Comic Sans MS" panose="030F0702030302020204" pitchFamily="66" charset="0"/>
              </a:rPr>
              <a:t>algoritm</a:t>
            </a:r>
            <a:r>
              <a:rPr sz="1200" dirty="0">
                <a:latin typeface="Comic Sans MS" panose="030F0702030302020204" pitchFamily="66" charset="0"/>
              </a:rPr>
              <a:t> de ranking al </a:t>
            </a:r>
            <a:r>
              <a:rPr sz="1200" dirty="0" err="1">
                <a:latin typeface="Comic Sans MS" panose="030F0702030302020204" pitchFamily="66" charset="0"/>
              </a:rPr>
              <a:t>articolelor</a:t>
            </a:r>
            <a:r>
              <a:rPr sz="1200" dirty="0">
                <a:latin typeface="Comic Sans MS" panose="030F0702030302020204" pitchFamily="66" charset="0"/>
              </a:rPr>
              <a:t>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43400" y="4700016"/>
            <a:ext cx="356616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5" name="Rectangle 54"/>
          <p:cNvSpPr/>
          <p:nvPr/>
        </p:nvSpPr>
        <p:spPr>
          <a:xfrm>
            <a:off x="4343400" y="4700016"/>
            <a:ext cx="3566160" cy="64008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6" name="TextBox 55"/>
          <p:cNvSpPr txBox="1"/>
          <p:nvPr/>
        </p:nvSpPr>
        <p:spPr>
          <a:xfrm>
            <a:off x="4434840" y="4809744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Lato"/>
              </a:rPr>
              <a:t>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27906" y="4878431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ourier New"/>
              </a:rPr>
              <a:t>test_api.py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4864608"/>
            <a:ext cx="1143000" cy="256032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9" name="TextBox 58"/>
          <p:cNvSpPr txBox="1"/>
          <p:nvPr/>
        </p:nvSpPr>
        <p:spPr>
          <a:xfrm>
            <a:off x="6675120" y="4873752"/>
            <a:ext cx="1143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Lato"/>
              </a:rPr>
              <a:t>TESTING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4840" y="5164765"/>
            <a:ext cx="3383280" cy="615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dirty="0">
                <a:latin typeface="Comic Sans MS" panose="030F0702030302020204" pitchFamily="66" charset="0"/>
              </a:rPr>
              <a:t>Script </a:t>
            </a:r>
            <a:r>
              <a:rPr sz="1200" dirty="0" err="1">
                <a:latin typeface="Comic Sans MS" panose="030F0702030302020204" pitchFamily="66" charset="0"/>
              </a:rPr>
              <a:t>testare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automată</a:t>
            </a:r>
            <a:r>
              <a:rPr sz="1200" dirty="0">
                <a:latin typeface="Comic Sans MS" panose="030F0702030302020204" pitchFamily="66" charset="0"/>
              </a:rPr>
              <a:t> — </a:t>
            </a:r>
            <a:r>
              <a:rPr sz="1200" dirty="0" err="1">
                <a:latin typeface="Comic Sans MS" panose="030F0702030302020204" pitchFamily="66" charset="0"/>
              </a:rPr>
              <a:t>simulează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toate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interacțiunile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aplicației</a:t>
            </a:r>
            <a:r>
              <a:rPr sz="1200" dirty="0">
                <a:latin typeface="Comic Sans MS" panose="030F0702030302020204" pitchFamily="66" charset="0"/>
              </a:rPr>
              <a:t> mobile cu </a:t>
            </a:r>
            <a:r>
              <a:rPr sz="1200" dirty="0" err="1">
                <a:latin typeface="Comic Sans MS" panose="030F0702030302020204" pitchFamily="66" charset="0"/>
              </a:rPr>
              <a:t>serverul</a:t>
            </a:r>
            <a:r>
              <a:rPr sz="1200" dirty="0">
                <a:latin typeface="Comic Sans MS" panose="030F0702030302020204" pitchFamily="66" charset="0"/>
              </a:rPr>
              <a:t>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700016"/>
            <a:ext cx="356616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7ED5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Rectangle 61"/>
          <p:cNvSpPr/>
          <p:nvPr/>
        </p:nvSpPr>
        <p:spPr>
          <a:xfrm>
            <a:off x="8229600" y="4700016"/>
            <a:ext cx="3566160" cy="64008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3" name="TextBox 62"/>
          <p:cNvSpPr txBox="1"/>
          <p:nvPr/>
        </p:nvSpPr>
        <p:spPr>
          <a:xfrm>
            <a:off x="8321040" y="4809744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Lato"/>
              </a:rPr>
              <a:t>🖼️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561320" y="4864608"/>
            <a:ext cx="1143000" cy="256032"/>
          </a:xfrm>
          <a:prstGeom prst="rect">
            <a:avLst/>
          </a:prstGeom>
          <a:solidFill>
            <a:srgbClr val="7ED5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6" name="TextBox 65"/>
          <p:cNvSpPr txBox="1"/>
          <p:nvPr/>
        </p:nvSpPr>
        <p:spPr>
          <a:xfrm>
            <a:off x="10561320" y="4873752"/>
            <a:ext cx="1143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Lato"/>
              </a:rPr>
              <a:t>SCRIPT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5164765"/>
            <a:ext cx="3383280" cy="892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dirty="0">
                <a:latin typeface="Comic Sans MS" panose="030F0702030302020204" pitchFamily="66" charset="0"/>
              </a:rPr>
              <a:t>Script </a:t>
            </a:r>
            <a:r>
              <a:rPr sz="1200" dirty="0" err="1">
                <a:latin typeface="Comic Sans MS" panose="030F0702030302020204" pitchFamily="66" charset="0"/>
              </a:rPr>
              <a:t>asincron</a:t>
            </a:r>
            <a:r>
              <a:rPr sz="1200" dirty="0">
                <a:latin typeface="Comic Sans MS" panose="030F0702030302020204" pitchFamily="66" charset="0"/>
              </a:rPr>
              <a:t> — scraping </a:t>
            </a:r>
            <a:r>
              <a:rPr sz="1200" dirty="0" err="1">
                <a:latin typeface="Comic Sans MS" panose="030F0702030302020204" pitchFamily="66" charset="0"/>
              </a:rPr>
              <a:t>pentru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recuperarea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imaginilor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lipsă</a:t>
            </a:r>
            <a:r>
              <a:rPr sz="1200" dirty="0">
                <a:latin typeface="Comic Sans MS" panose="030F0702030302020204" pitchFamily="66" charset="0"/>
              </a:rPr>
              <a:t> din </a:t>
            </a:r>
            <a:r>
              <a:rPr sz="1200" dirty="0" err="1">
                <a:latin typeface="Comic Sans MS" panose="030F0702030302020204" pitchFamily="66" charset="0"/>
              </a:rPr>
              <a:t>articolele</a:t>
            </a:r>
            <a:r>
              <a:rPr sz="1200" dirty="0">
                <a:latin typeface="Comic Sans MS" panose="030F0702030302020204" pitchFamily="66" charset="0"/>
              </a:rPr>
              <a:t> </a:t>
            </a:r>
            <a:r>
              <a:rPr sz="1200" dirty="0" err="1">
                <a:latin typeface="Comic Sans MS" panose="030F0702030302020204" pitchFamily="66" charset="0"/>
              </a:rPr>
              <a:t>procesate</a:t>
            </a:r>
            <a:r>
              <a:rPr sz="1200" dirty="0">
                <a:latin typeface="Comic Sans MS" panose="030F0702030302020204" pitchFamily="66" charset="0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37113" y="3273588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333333"/>
                </a:solidFill>
                <a:latin typeface="Courier New"/>
              </a:rPr>
              <a:t>scheduler_task.py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14106" y="4878431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333333"/>
                </a:solidFill>
                <a:latin typeface="Courier New"/>
              </a:rPr>
              <a:t>backfill_images.py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 dirty="0">
                <a:solidFill>
                  <a:srgbClr val="FFFFFF"/>
                </a:solidFill>
                <a:latin typeface="Lato"/>
              </a:rPr>
              <a:t>SCHEMA BAZE DE 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200400" cy="4572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594360" y="1609344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ourier New"/>
              </a:rPr>
              <a:t>pending_articles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594360" y="2037080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id INTEGER PK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59152"/>
            <a:ext cx="320040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594360" y="2384552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title 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06624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594360" y="2732024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url TEXT UNIQUE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4096"/>
            <a:ext cx="320040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594360" y="3079496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category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01568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594360" y="3426968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raw_content 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49040"/>
            <a:ext cx="320040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594360" y="3774440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summary 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96512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594360" y="4121912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score INTEGER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43984"/>
            <a:ext cx="320040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TextBox 21"/>
          <p:cNvSpPr txBox="1"/>
          <p:nvPr/>
        </p:nvSpPr>
        <p:spPr>
          <a:xfrm>
            <a:off x="594360" y="4469384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image_url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91456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594360" y="4816856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published_at 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1562735"/>
            <a:ext cx="3200400" cy="4572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4251960" y="1617599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FFFFFF"/>
                </a:solidFill>
                <a:latin typeface="Courier New"/>
              </a:rPr>
              <a:t>rss_sources</a:t>
            </a:r>
            <a:endParaRPr b="1" i="0" dirty="0">
              <a:solidFill>
                <a:srgbClr val="FFFFFF"/>
              </a:solidFill>
              <a:latin typeface="Courier New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114800" y="2019935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4251960" y="2045335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id INTEGER PK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2367407"/>
            <a:ext cx="320040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29"/>
          <p:cNvSpPr txBox="1"/>
          <p:nvPr/>
        </p:nvSpPr>
        <p:spPr>
          <a:xfrm>
            <a:off x="4251960" y="2392807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url 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2714879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4251960" y="2740279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category TEXT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3062351"/>
            <a:ext cx="320040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TextBox 33"/>
          <p:cNvSpPr txBox="1"/>
          <p:nvPr/>
        </p:nvSpPr>
        <p:spPr>
          <a:xfrm>
            <a:off x="4251960" y="3087751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is_active BOOLEAN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3409823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4251960" y="3435223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last_fetched TEXT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0" y="1554480"/>
            <a:ext cx="3200400" cy="4572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7909560" y="1609344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ourier New"/>
              </a:rPr>
              <a:t>device_seen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0" y="2011680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TextBox 39"/>
          <p:cNvSpPr txBox="1"/>
          <p:nvPr/>
        </p:nvSpPr>
        <p:spPr>
          <a:xfrm>
            <a:off x="7909560" y="2037080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id INTEGER PK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2359152"/>
            <a:ext cx="320040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7909560" y="2384552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device_id TEXT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0" y="2706624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4" name="TextBox 43"/>
          <p:cNvSpPr txBox="1"/>
          <p:nvPr/>
        </p:nvSpPr>
        <p:spPr>
          <a:xfrm>
            <a:off x="7909560" y="2732024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url TEXT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0" y="3054096"/>
            <a:ext cx="320040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6" name="TextBox 45"/>
          <p:cNvSpPr txBox="1"/>
          <p:nvPr/>
        </p:nvSpPr>
        <p:spPr>
          <a:xfrm>
            <a:off x="7909560" y="3079496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seen_at TIMESTAMP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0" y="3941711"/>
            <a:ext cx="3200400" cy="45720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8" name="TextBox 47"/>
          <p:cNvSpPr txBox="1"/>
          <p:nvPr/>
        </p:nvSpPr>
        <p:spPr>
          <a:xfrm>
            <a:off x="7909560" y="3996575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ourier New"/>
              </a:rPr>
              <a:t>app_settings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0" y="4398911"/>
            <a:ext cx="32004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0" name="TextBox 49"/>
          <p:cNvSpPr txBox="1"/>
          <p:nvPr/>
        </p:nvSpPr>
        <p:spPr>
          <a:xfrm>
            <a:off x="7909560" y="4424311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key TEXT PK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72400" y="4746383"/>
            <a:ext cx="320040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TextBox 51"/>
          <p:cNvSpPr txBox="1"/>
          <p:nvPr/>
        </p:nvSpPr>
        <p:spPr>
          <a:xfrm>
            <a:off x="7909560" y="4771783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urier New"/>
              </a:rPr>
              <a:t>value 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Lato"/>
              </a:rPr>
              <a:t>SCREENSHOTS — ONBOARDING &amp; NEWS FEED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286000" cy="4059936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134874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latin typeface="Comic Sans MS" panose="030F0702030302020204" pitchFamily="66" charset="0"/>
              </a:rPr>
              <a:t>Onboarding — Pasul 1
</a:t>
            </a:r>
            <a:r>
              <a:rPr sz="1400" dirty="0" err="1">
                <a:latin typeface="Comic Sans MS" panose="030F0702030302020204" pitchFamily="66" charset="0"/>
              </a:rPr>
              <a:t>Selectare</a:t>
            </a:r>
            <a:r>
              <a:rPr sz="1400" dirty="0">
                <a:latin typeface="Comic Sans MS" panose="030F0702030302020204" pitchFamily="66" charset="0"/>
              </a:rPr>
              <a:t> </a:t>
            </a:r>
            <a:r>
              <a:rPr sz="1400" dirty="0" err="1">
                <a:latin typeface="Comic Sans MS" panose="030F0702030302020204" pitchFamily="66" charset="0"/>
              </a:rPr>
              <a:t>Interese</a:t>
            </a:r>
            <a:endParaRPr sz="1400" dirty="0">
              <a:latin typeface="Comic Sans MS" panose="030F0702030302020204" pitchFamily="66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08960" y="1554480"/>
            <a:ext cx="2286000" cy="4059936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Rectangle 12"/>
          <p:cNvSpPr/>
          <p:nvPr/>
        </p:nvSpPr>
        <p:spPr>
          <a:xfrm>
            <a:off x="400050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1752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latin typeface="Comic Sans MS" panose="030F0702030302020204" pitchFamily="66" charset="0"/>
              </a:rPr>
              <a:t>Onboarding — Pasul 2
</a:t>
            </a:r>
            <a:r>
              <a:rPr sz="1400" dirty="0" err="1">
                <a:latin typeface="Comic Sans MS" panose="030F0702030302020204" pitchFamily="66" charset="0"/>
              </a:rPr>
              <a:t>Selectare</a:t>
            </a:r>
            <a:r>
              <a:rPr sz="1400" dirty="0">
                <a:latin typeface="Comic Sans MS" panose="030F0702030302020204" pitchFamily="66" charset="0"/>
              </a:rPr>
              <a:t> </a:t>
            </a:r>
            <a:r>
              <a:rPr sz="1400" dirty="0" err="1">
                <a:latin typeface="Comic Sans MS" panose="030F0702030302020204" pitchFamily="66" charset="0"/>
              </a:rPr>
              <a:t>Limbă</a:t>
            </a:r>
            <a:endParaRPr sz="1400" dirty="0">
              <a:latin typeface="Comic Sans MS" panose="030F0702030302020204" pitchFamily="66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760720" y="1554480"/>
            <a:ext cx="2286000" cy="4059936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65226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latin typeface="Comic Sans MS" panose="030F0702030302020204" pitchFamily="66" charset="0"/>
              </a:rPr>
              <a:t>News Feed
</a:t>
            </a:r>
            <a:r>
              <a:rPr sz="1400" dirty="0" err="1">
                <a:latin typeface="Comic Sans MS" panose="030F0702030302020204" pitchFamily="66" charset="0"/>
              </a:rPr>
              <a:t>Articole</a:t>
            </a:r>
            <a:r>
              <a:rPr sz="1400" dirty="0">
                <a:latin typeface="Comic Sans MS" panose="030F0702030302020204" pitchFamily="66" charset="0"/>
              </a:rPr>
              <a:t> </a:t>
            </a:r>
            <a:r>
              <a:rPr sz="1400" dirty="0" err="1">
                <a:latin typeface="Comic Sans MS" panose="030F0702030302020204" pitchFamily="66" charset="0"/>
              </a:rPr>
              <a:t>principale</a:t>
            </a:r>
            <a:endParaRPr sz="1400" dirty="0">
              <a:latin typeface="Comic Sans MS" panose="030F0702030302020204" pitchFamily="66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412480" y="1554480"/>
            <a:ext cx="2286000" cy="4059936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30402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latin typeface="Comic Sans MS" panose="030F0702030302020204" pitchFamily="66" charset="0"/>
              </a:rPr>
              <a:t>News Feed
Shimmer loading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Lato"/>
              </a:rPr>
              <a:t>SCREENSHOTS — ARTICLE READER &amp; EXPLOREAZĂ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286000" cy="4059936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134874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latin typeface="Comic Sans MS" panose="030F0702030302020204" pitchFamily="66" charset="0"/>
              </a:rPr>
              <a:t>Reader
Header + </a:t>
            </a:r>
            <a:r>
              <a:rPr sz="1400" dirty="0" err="1">
                <a:latin typeface="Comic Sans MS" panose="030F0702030302020204" pitchFamily="66" charset="0"/>
              </a:rPr>
              <a:t>Rezumat</a:t>
            </a:r>
            <a:r>
              <a:rPr sz="1400" dirty="0">
                <a:latin typeface="Comic Sans MS" panose="030F0702030302020204" pitchFamily="66" charset="0"/>
              </a:rPr>
              <a:t>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554480"/>
            <a:ext cx="2286000" cy="4059936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00050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1752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latin typeface="Comic Sans MS" panose="030F0702030302020204" pitchFamily="66" charset="0"/>
              </a:rPr>
              <a:t>Reader
</a:t>
            </a:r>
            <a:r>
              <a:rPr sz="1400" dirty="0" err="1">
                <a:latin typeface="Comic Sans MS" panose="030F0702030302020204" pitchFamily="66" charset="0"/>
              </a:rPr>
              <a:t>Conținut</a:t>
            </a:r>
            <a:r>
              <a:rPr sz="1400" dirty="0">
                <a:latin typeface="Comic Sans MS" panose="030F0702030302020204" pitchFamily="66" charset="0"/>
              </a:rPr>
              <a:t> &amp; scroll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1554480"/>
            <a:ext cx="2286000" cy="4059936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65226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latin typeface="Comic Sans MS" panose="030F0702030302020204" pitchFamily="66" charset="0"/>
              </a:rPr>
              <a:t>Reader
</a:t>
            </a:r>
            <a:r>
              <a:rPr sz="1400" dirty="0" err="1">
                <a:latin typeface="Comic Sans MS" panose="030F0702030302020204" pitchFamily="66" charset="0"/>
              </a:rPr>
              <a:t>Salvare</a:t>
            </a:r>
            <a:r>
              <a:rPr sz="1400" dirty="0">
                <a:latin typeface="Comic Sans MS" panose="030F0702030302020204" pitchFamily="66" charset="0"/>
              </a:rPr>
              <a:t> </a:t>
            </a:r>
            <a:r>
              <a:rPr sz="1400" dirty="0" err="1">
                <a:latin typeface="Comic Sans MS" panose="030F0702030302020204" pitchFamily="66" charset="0"/>
              </a:rPr>
              <a:t>articol</a:t>
            </a:r>
            <a:endParaRPr sz="1400" dirty="0">
              <a:latin typeface="Comic Sans MS" panose="030F0702030302020204" pitchFamily="66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412480" y="1554480"/>
            <a:ext cx="2286000" cy="4059936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30402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 err="1">
                <a:latin typeface="Comic Sans MS" panose="030F0702030302020204" pitchFamily="66" charset="0"/>
              </a:rPr>
              <a:t>Explorează</a:t>
            </a:r>
            <a:r>
              <a:rPr sz="1400" dirty="0">
                <a:latin typeface="Comic Sans MS" panose="030F0702030302020204" pitchFamily="66" charset="0"/>
              </a:rPr>
              <a:t>
Grid </a:t>
            </a:r>
            <a:r>
              <a:rPr sz="1400" dirty="0" err="1">
                <a:latin typeface="Comic Sans MS" panose="030F0702030302020204" pitchFamily="66" charset="0"/>
              </a:rPr>
              <a:t>categorii</a:t>
            </a:r>
            <a:endParaRPr sz="1400" dirty="0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Lato"/>
              </a:rPr>
              <a:t>SCREENSHOTS — SALVATE, FAB, SETĂRI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286000" cy="4059936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34874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 err="1">
                <a:latin typeface="Comic Sans MS" panose="030F0702030302020204" pitchFamily="66" charset="0"/>
              </a:rPr>
              <a:t>Salvate</a:t>
            </a:r>
            <a:r>
              <a:rPr sz="1400" dirty="0">
                <a:latin typeface="Comic Sans MS" panose="030F0702030302020204" pitchFamily="66" charset="0"/>
              </a:rPr>
              <a:t>
Cu </a:t>
            </a:r>
            <a:r>
              <a:rPr sz="1400" dirty="0" err="1">
                <a:latin typeface="Comic Sans MS" panose="030F0702030302020204" pitchFamily="66" charset="0"/>
              </a:rPr>
              <a:t>articole</a:t>
            </a:r>
            <a:endParaRPr sz="1400" dirty="0">
              <a:latin typeface="Comic Sans MS" panose="030F0702030302020204" pitchFamily="66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08960" y="1554480"/>
            <a:ext cx="2286000" cy="4059936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00050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1752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latin typeface="Comic Sans MS" panose="030F0702030302020204" pitchFamily="66" charset="0"/>
              </a:rPr>
              <a:t>FAB Speed Dial
RSS &amp; </a:t>
            </a:r>
            <a:r>
              <a:rPr sz="1400" dirty="0" err="1">
                <a:latin typeface="Comic Sans MS" panose="030F0702030302020204" pitchFamily="66" charset="0"/>
              </a:rPr>
              <a:t>Interese</a:t>
            </a:r>
            <a:endParaRPr sz="1400" dirty="0">
              <a:latin typeface="Comic Sans MS" panose="030F0702030302020204" pitchFamily="66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760720" y="1554480"/>
            <a:ext cx="2286000" cy="4059936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65226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latin typeface="Comic Sans MS" panose="030F0702030302020204" pitchFamily="66" charset="0"/>
              </a:rPr>
              <a:t>Bottom Sheet
</a:t>
            </a:r>
            <a:r>
              <a:rPr sz="1400" dirty="0" err="1">
                <a:latin typeface="Comic Sans MS" panose="030F0702030302020204" pitchFamily="66" charset="0"/>
              </a:rPr>
              <a:t>Adaugă</a:t>
            </a:r>
            <a:r>
              <a:rPr sz="1400" dirty="0">
                <a:latin typeface="Comic Sans MS" panose="030F0702030302020204" pitchFamily="66" charset="0"/>
              </a:rPr>
              <a:t> RSS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554480"/>
            <a:ext cx="2286000" cy="4059936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304020" y="1554480"/>
            <a:ext cx="502920" cy="164592"/>
          </a:xfrm>
          <a:prstGeom prst="rect">
            <a:avLst/>
          </a:prstGeom>
          <a:solidFill>
            <a:srgbClr val="0F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56875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 err="1">
                <a:latin typeface="Comic Sans MS" panose="030F0702030302020204" pitchFamily="66" charset="0"/>
              </a:rPr>
              <a:t>Setări</a:t>
            </a:r>
            <a:r>
              <a:rPr sz="1400" dirty="0">
                <a:latin typeface="Comic Sans MS" panose="030F0702030302020204" pitchFamily="66" charset="0"/>
              </a:rPr>
              <a:t> / </a:t>
            </a:r>
            <a:r>
              <a:rPr sz="1400" dirty="0" err="1">
                <a:latin typeface="Comic Sans MS" panose="030F0702030302020204" pitchFamily="66" charset="0"/>
              </a:rPr>
              <a:t>Profil</a:t>
            </a:r>
            <a:r>
              <a:rPr sz="1400" dirty="0">
                <a:latin typeface="Comic Sans MS" panose="030F0702030302020204" pitchFamily="66" charset="0"/>
              </a:rPr>
              <a:t>
Toggle </a:t>
            </a:r>
            <a:r>
              <a:rPr sz="1400" dirty="0" err="1">
                <a:latin typeface="Comic Sans MS" panose="030F0702030302020204" pitchFamily="66" charset="0"/>
              </a:rPr>
              <a:t>temă</a:t>
            </a:r>
            <a:endParaRPr sz="1400" dirty="0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Lato"/>
              </a:rPr>
              <a:t>FLUX INGESTIE RSS — rss_service.py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554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554480" cy="91440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Lato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1371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333333"/>
                </a:solidFill>
                <a:latin typeface="Lato"/>
              </a:rPr>
              <a:t>Input
Lista URL-</a:t>
            </a:r>
            <a:r>
              <a:rPr sz="1400" b="0" i="0" dirty="0" err="1">
                <a:solidFill>
                  <a:srgbClr val="333333"/>
                </a:solidFill>
                <a:latin typeface="Lato"/>
              </a:rPr>
              <a:t>uri</a:t>
            </a:r>
            <a:r>
              <a:rPr sz="1400" b="0" i="0" dirty="0">
                <a:solidFill>
                  <a:srgbClr val="333333"/>
                </a:solidFill>
                <a:latin typeface="Lato"/>
              </a:rPr>
              <a:t> RSS 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514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828800"/>
            <a:ext cx="1554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68880" y="1828800"/>
            <a:ext cx="1554480" cy="9144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965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Lato"/>
              </a:rPr>
              <a:t>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560320"/>
            <a:ext cx="1371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333333"/>
                </a:solidFill>
                <a:latin typeface="Lato"/>
              </a:rPr>
              <a:t>Loop URL-</a:t>
            </a:r>
            <a:r>
              <a:rPr sz="1400" b="0" i="0" dirty="0" err="1">
                <a:solidFill>
                  <a:srgbClr val="333333"/>
                </a:solidFill>
                <a:latin typeface="Lato"/>
              </a:rPr>
              <a:t>uri</a:t>
            </a:r>
            <a:r>
              <a:rPr sz="1400" b="0" i="0" dirty="0">
                <a:solidFill>
                  <a:srgbClr val="333333"/>
                </a:solidFill>
                <a:latin typeface="Lato"/>
              </a:rPr>
              <a:t>
+ </a:t>
            </a:r>
            <a:r>
              <a:rPr sz="1400" b="0" i="0" dirty="0" err="1">
                <a:solidFill>
                  <a:srgbClr val="333333"/>
                </a:solidFill>
                <a:latin typeface="Lato"/>
              </a:rPr>
              <a:t>feedparser.parse</a:t>
            </a:r>
            <a:r>
              <a:rPr sz="1400" b="0" i="0" dirty="0">
                <a:solidFill>
                  <a:srgbClr val="333333"/>
                </a:solidFill>
                <a:latin typeface="Lato"/>
              </a:rPr>
              <a:t>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2514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1828800"/>
            <a:ext cx="1554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80560" y="1828800"/>
            <a:ext cx="1554480" cy="914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1965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Lato"/>
              </a:rPr>
              <a:t>⏱️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560320"/>
            <a:ext cx="137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333333"/>
                </a:solidFill>
                <a:latin typeface="Lato"/>
              </a:rPr>
              <a:t>Filtru</a:t>
            </a:r>
            <a:r>
              <a:rPr sz="1400" b="0" i="0" dirty="0">
                <a:solidFill>
                  <a:srgbClr val="333333"/>
                </a:solidFill>
                <a:latin typeface="Lato"/>
              </a:rPr>
              <a:t> </a:t>
            </a:r>
            <a:r>
              <a:rPr sz="1400" b="0" i="0" dirty="0" err="1">
                <a:solidFill>
                  <a:srgbClr val="333333"/>
                </a:solidFill>
                <a:latin typeface="Lato"/>
              </a:rPr>
              <a:t>vârstă</a:t>
            </a:r>
            <a:r>
              <a:rPr sz="1400" b="0" i="0" dirty="0">
                <a:solidFill>
                  <a:srgbClr val="333333"/>
                </a:solidFill>
                <a:latin typeface="Lato"/>
              </a:rPr>
              <a:t>
&lt; 24 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514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828800"/>
            <a:ext cx="1554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55C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92240" y="1828800"/>
            <a:ext cx="1554480" cy="91440"/>
          </a:xfrm>
          <a:prstGeom prst="rect">
            <a:avLst/>
          </a:prstGeom>
          <a:solidFill>
            <a:srgbClr val="55C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1965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Lato"/>
              </a:rPr>
              <a:t>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560320"/>
            <a:ext cx="1371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  <a:latin typeface="Lato"/>
              </a:rPr>
              <a:t>Curățare HTML
+ extracție media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2514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0" y="1828800"/>
            <a:ext cx="1554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503920" y="1828800"/>
            <a:ext cx="1554480" cy="9144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03920" y="1965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Lato"/>
              </a:rPr>
              <a:t>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2560320"/>
            <a:ext cx="1371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  <a:latin typeface="Lato"/>
              </a:rPr>
              <a:t>Batch 50
INSERT OR IGNORE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514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8B485"/>
                </a:solidFill>
                <a:latin typeface="Lato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1828800"/>
            <a:ext cx="1554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515600" y="1828800"/>
            <a:ext cx="1554480" cy="9144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0" y="1965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Lato"/>
              </a:rPr>
              <a:t>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2560320"/>
            <a:ext cx="1371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  <a:latin typeface="Lato"/>
              </a:rPr>
              <a:t>enrich_pending
→ AI Pipeline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538" y="3931920"/>
            <a:ext cx="11274552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28B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3931920"/>
            <a:ext cx="91440" cy="2468880"/>
          </a:xfrm>
          <a:prstGeom prst="rect">
            <a:avLst/>
          </a:prstGeom>
          <a:solidFill>
            <a:srgbClr val="28B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4041648"/>
            <a:ext cx="1051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8B485"/>
                </a:solidFill>
                <a:latin typeface="Lato"/>
              </a:rPr>
              <a:t>scheduler_task.py — </a:t>
            </a:r>
            <a:r>
              <a:rPr sz="1600" b="1" i="0" dirty="0" err="1">
                <a:solidFill>
                  <a:srgbClr val="28B485"/>
                </a:solidFill>
                <a:latin typeface="Lato"/>
              </a:rPr>
              <a:t>Automatizare</a:t>
            </a:r>
            <a:endParaRPr sz="1600" b="1" i="0" dirty="0">
              <a:solidFill>
                <a:srgbClr val="28B485"/>
              </a:solidFill>
              <a:latin typeface="Lato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58858" y="4480560"/>
            <a:ext cx="10972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>
                <a:latin typeface="Comic Sans MS" panose="030F0702030302020204" pitchFamily="66" charset="0"/>
              </a:rPr>
              <a:t>• </a:t>
            </a:r>
            <a:r>
              <a:rPr dirty="0" err="1">
                <a:latin typeface="Comic Sans MS" panose="030F0702030302020204" pitchFamily="66" charset="0"/>
              </a:rPr>
              <a:t>APScheduler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rulează</a:t>
            </a:r>
            <a:r>
              <a:rPr dirty="0">
                <a:latin typeface="Comic Sans MS" panose="030F0702030302020204" pitchFamily="66" charset="0"/>
              </a:rPr>
              <a:t> job-ul la intervale </a:t>
            </a:r>
            <a:r>
              <a:rPr dirty="0" err="1">
                <a:latin typeface="Comic Sans MS" panose="030F0702030302020204" pitchFamily="66" charset="0"/>
              </a:rPr>
              <a:t>configurabile</a:t>
            </a:r>
            <a:r>
              <a:rPr dirty="0">
                <a:latin typeface="Comic Sans MS" panose="030F0702030302020204" pitchFamily="66" charset="0"/>
              </a:rPr>
              <a:t> (implicit 30 min)</a:t>
            </a:r>
          </a:p>
          <a:p>
            <a:pPr algn="l"/>
            <a:r>
              <a:rPr dirty="0">
                <a:latin typeface="Comic Sans MS" panose="030F0702030302020204" pitchFamily="66" charset="0"/>
              </a:rPr>
              <a:t>• </a:t>
            </a:r>
            <a:r>
              <a:rPr dirty="0" err="1">
                <a:latin typeface="Comic Sans MS" panose="030F0702030302020204" pitchFamily="66" charset="0"/>
              </a:rPr>
              <a:t>Grupează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sursele</a:t>
            </a:r>
            <a:r>
              <a:rPr dirty="0">
                <a:latin typeface="Comic Sans MS" panose="030F0702030302020204" pitchFamily="66" charset="0"/>
              </a:rPr>
              <a:t> RSS pe </a:t>
            </a:r>
            <a:r>
              <a:rPr dirty="0" err="1">
                <a:latin typeface="Comic Sans MS" panose="030F0702030302020204" pitchFamily="66" charset="0"/>
              </a:rPr>
              <a:t>categorii</a:t>
            </a:r>
            <a:r>
              <a:rPr dirty="0">
                <a:latin typeface="Comic Sans MS" panose="030F0702030302020204" pitchFamily="66" charset="0"/>
              </a:rPr>
              <a:t> → </a:t>
            </a:r>
            <a:r>
              <a:rPr dirty="0" err="1">
                <a:latin typeface="Comic Sans MS" panose="030F0702030302020204" pitchFamily="66" charset="0"/>
              </a:rPr>
              <a:t>apeluri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paralele</a:t>
            </a:r>
            <a:r>
              <a:rPr dirty="0">
                <a:latin typeface="Comic Sans MS" panose="030F0702030302020204" pitchFamily="66" charset="0"/>
              </a:rPr>
              <a:t> cu </a:t>
            </a:r>
            <a:r>
              <a:rPr dirty="0" err="1">
                <a:latin typeface="Comic Sans MS" panose="030F0702030302020204" pitchFamily="66" charset="0"/>
              </a:rPr>
              <a:t>asyncio</a:t>
            </a:r>
            <a:endParaRPr dirty="0">
              <a:latin typeface="Comic Sans MS" panose="030F0702030302020204" pitchFamily="66" charset="0"/>
            </a:endParaRPr>
          </a:p>
          <a:p>
            <a:pPr algn="l"/>
            <a:r>
              <a:rPr dirty="0">
                <a:latin typeface="Comic Sans MS" panose="030F0702030302020204" pitchFamily="66" charset="0"/>
              </a:rPr>
              <a:t>• Trigger manual </a:t>
            </a:r>
            <a:r>
              <a:rPr dirty="0" err="1">
                <a:latin typeface="Comic Sans MS" panose="030F0702030302020204" pitchFamily="66" charset="0"/>
              </a:rPr>
              <a:t>disponibil</a:t>
            </a:r>
            <a:r>
              <a:rPr dirty="0">
                <a:latin typeface="Comic Sans MS" panose="030F0702030302020204" pitchFamily="66" charset="0"/>
              </a:rPr>
              <a:t> via POST /ingest din </a:t>
            </a:r>
            <a:r>
              <a:rPr dirty="0" err="1">
                <a:latin typeface="Comic Sans MS" panose="030F0702030302020204" pitchFamily="66" charset="0"/>
              </a:rPr>
              <a:t>aplicația</a:t>
            </a:r>
            <a:r>
              <a:rPr dirty="0">
                <a:latin typeface="Comic Sans MS" panose="030F0702030302020204" pitchFamily="66" charset="0"/>
              </a:rPr>
              <a:t> Android</a:t>
            </a:r>
          </a:p>
          <a:p>
            <a:pPr algn="l"/>
            <a:r>
              <a:rPr dirty="0">
                <a:latin typeface="Comic Sans MS" panose="030F0702030302020204" pitchFamily="66" charset="0"/>
              </a:rPr>
              <a:t>• </a:t>
            </a:r>
            <a:r>
              <a:rPr dirty="0" err="1">
                <a:latin typeface="Comic Sans MS" panose="030F0702030302020204" pitchFamily="66" charset="0"/>
              </a:rPr>
              <a:t>Logare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detaliată</a:t>
            </a:r>
            <a:r>
              <a:rPr dirty="0">
                <a:latin typeface="Comic Sans MS" panose="030F0702030302020204" pitchFamily="66" charset="0"/>
              </a:rPr>
              <a:t>: </a:t>
            </a:r>
            <a:r>
              <a:rPr dirty="0" err="1">
                <a:latin typeface="Comic Sans MS" panose="030F0702030302020204" pitchFamily="66" charset="0"/>
              </a:rPr>
              <a:t>articole</a:t>
            </a:r>
            <a:r>
              <a:rPr dirty="0">
                <a:latin typeface="Comic Sans MS" panose="030F0702030302020204" pitchFamily="66" charset="0"/>
              </a:rPr>
              <a:t> </a:t>
            </a:r>
            <a:r>
              <a:rPr dirty="0" err="1">
                <a:latin typeface="Comic Sans MS" panose="030F0702030302020204" pitchFamily="66" charset="0"/>
              </a:rPr>
              <a:t>noi</a:t>
            </a:r>
            <a:r>
              <a:rPr dirty="0">
                <a:latin typeface="Comic Sans MS" panose="030F0702030302020204" pitchFamily="66" charset="0"/>
              </a:rPr>
              <a:t>, duplicate </a:t>
            </a:r>
            <a:r>
              <a:rPr dirty="0" err="1">
                <a:latin typeface="Comic Sans MS" panose="030F0702030302020204" pitchFamily="66" charset="0"/>
              </a:rPr>
              <a:t>ignorate</a:t>
            </a:r>
            <a:r>
              <a:rPr dirty="0">
                <a:latin typeface="Comic Sans MS" panose="030F0702030302020204" pitchFamily="66" charset="0"/>
              </a:rPr>
              <a:t>, </a:t>
            </a:r>
            <a:r>
              <a:rPr dirty="0" err="1">
                <a:latin typeface="Comic Sans MS" panose="030F0702030302020204" pitchFamily="66" charset="0"/>
              </a:rPr>
              <a:t>erori</a:t>
            </a:r>
            <a:r>
              <a:rPr dirty="0">
                <a:latin typeface="Comic Sans MS" panose="030F0702030302020204" pitchFamily="66" charset="0"/>
              </a:rPr>
              <a:t>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27" y="-210979"/>
            <a:ext cx="12188952" cy="6858000"/>
          </a:xfrm>
          <a:prstGeom prst="rect">
            <a:avLst/>
          </a:prstGeom>
          <a:gradFill rotWithShape="1">
            <a:gsLst>
              <a:gs pos="0">
                <a:srgbClr val="7ED56F"/>
              </a:gs>
              <a:gs pos="100000">
                <a:srgbClr val="28B485"/>
              </a:gs>
            </a:gsLst>
            <a:lin ang="135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dirty="0">
                <a:solidFill>
                  <a:srgbClr val="FFFFFF"/>
                </a:solidFill>
                <a:latin typeface="Lato"/>
              </a:rPr>
              <a:t>CONCLUZII &amp; DIRECȚII VIITOARE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5486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303520" cy="475488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latin typeface="Lato"/>
              </a:rPr>
              <a:t>✅  </a:t>
            </a:r>
            <a:r>
              <a:rPr sz="1800" b="1" i="0" dirty="0" err="1">
                <a:latin typeface="Lato"/>
              </a:rPr>
              <a:t>Realizări</a:t>
            </a:r>
            <a:endParaRPr sz="1800" b="1" i="0" dirty="0">
              <a:latin typeface="Lat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4937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latin typeface="Comic Sans MS" panose="030F0702030302020204" pitchFamily="66" charset="0"/>
              </a:rPr>
              <a:t>✔  </a:t>
            </a:r>
            <a:r>
              <a:rPr sz="1600" b="0" dirty="0" err="1">
                <a:latin typeface="Comic Sans MS" panose="030F0702030302020204" pitchFamily="66" charset="0"/>
              </a:rPr>
              <a:t>Ecosistem</a:t>
            </a:r>
            <a:r>
              <a:rPr sz="1600" b="0" dirty="0">
                <a:latin typeface="Comic Sans MS" panose="030F0702030302020204" pitchFamily="66" charset="0"/>
              </a:rPr>
              <a:t> </a:t>
            </a:r>
            <a:r>
              <a:rPr sz="1600" b="0" dirty="0" err="1">
                <a:latin typeface="Comic Sans MS" panose="030F0702030302020204" pitchFamily="66" charset="0"/>
              </a:rPr>
              <a:t>complet</a:t>
            </a:r>
            <a:r>
              <a:rPr sz="1600" b="0" dirty="0">
                <a:latin typeface="Comic Sans MS" panose="030F0702030302020204" pitchFamily="66" charset="0"/>
              </a:rPr>
              <a:t> Backend + Android</a:t>
            </a:r>
          </a:p>
          <a:p>
            <a:pPr algn="l"/>
            <a:r>
              <a:rPr sz="1600" b="0" dirty="0">
                <a:latin typeface="Comic Sans MS" panose="030F0702030302020204" pitchFamily="66" charset="0"/>
              </a:rPr>
              <a:t>✔  AI Integration cu Gemini 2.5 &amp; fallback</a:t>
            </a:r>
          </a:p>
          <a:p>
            <a:pPr algn="l"/>
            <a:r>
              <a:rPr sz="1600" b="0" dirty="0">
                <a:latin typeface="Comic Sans MS" panose="030F0702030302020204" pitchFamily="66" charset="0"/>
              </a:rPr>
              <a:t>✔  </a:t>
            </a:r>
            <a:r>
              <a:rPr sz="1600" b="0" dirty="0" err="1">
                <a:latin typeface="Comic Sans MS" panose="030F0702030302020204" pitchFamily="66" charset="0"/>
              </a:rPr>
              <a:t>Arhitectură</a:t>
            </a:r>
            <a:r>
              <a:rPr sz="1600" b="0" dirty="0">
                <a:latin typeface="Comic Sans MS" panose="030F0702030302020204" pitchFamily="66" charset="0"/>
              </a:rPr>
              <a:t> </a:t>
            </a:r>
            <a:r>
              <a:rPr sz="1600" b="0" dirty="0" err="1">
                <a:latin typeface="Comic Sans MS" panose="030F0702030302020204" pitchFamily="66" charset="0"/>
              </a:rPr>
              <a:t>modulară</a:t>
            </a:r>
            <a:r>
              <a:rPr sz="1600" b="0" dirty="0">
                <a:latin typeface="Comic Sans MS" panose="030F0702030302020204" pitchFamily="66" charset="0"/>
              </a:rPr>
              <a:t> </a:t>
            </a:r>
            <a:r>
              <a:rPr sz="1600" b="0" dirty="0" err="1">
                <a:latin typeface="Comic Sans MS" panose="030F0702030302020204" pitchFamily="66" charset="0"/>
              </a:rPr>
              <a:t>scalabilă</a:t>
            </a:r>
            <a:endParaRPr sz="1600" b="0" dirty="0">
              <a:latin typeface="Comic Sans MS" panose="030F0702030302020204" pitchFamily="66" charset="0"/>
            </a:endParaRPr>
          </a:p>
          <a:p>
            <a:pPr algn="l"/>
            <a:r>
              <a:rPr sz="1600" b="0" dirty="0">
                <a:latin typeface="Comic Sans MS" panose="030F0702030302020204" pitchFamily="66" charset="0"/>
              </a:rPr>
              <a:t>✔  Offline First cu Room Database</a:t>
            </a:r>
          </a:p>
          <a:p>
            <a:pPr algn="l"/>
            <a:r>
              <a:rPr sz="1600" b="0" dirty="0">
                <a:latin typeface="Comic Sans MS" panose="030F0702030302020204" pitchFamily="66" charset="0"/>
              </a:rPr>
              <a:t>✔  UI </a:t>
            </a:r>
            <a:r>
              <a:rPr sz="1600" b="0" dirty="0" err="1">
                <a:latin typeface="Comic Sans MS" panose="030F0702030302020204" pitchFamily="66" charset="0"/>
              </a:rPr>
              <a:t>adaptiv</a:t>
            </a:r>
            <a:r>
              <a:rPr sz="1600" b="0" dirty="0">
                <a:latin typeface="Comic Sans MS" panose="030F0702030302020204" pitchFamily="66" charset="0"/>
              </a:rPr>
              <a:t>: phone + tablet (</a:t>
            </a:r>
            <a:r>
              <a:rPr sz="1600" b="0" dirty="0" err="1">
                <a:latin typeface="Comic Sans MS" panose="030F0702030302020204" pitchFamily="66" charset="0"/>
              </a:rPr>
              <a:t>NavRail</a:t>
            </a:r>
            <a:r>
              <a:rPr sz="1600" b="0" dirty="0">
                <a:latin typeface="Comic Sans MS" panose="030F0702030302020204" pitchFamily="66" charset="0"/>
              </a:rPr>
              <a:t>)</a:t>
            </a:r>
          </a:p>
          <a:p>
            <a:pPr algn="l"/>
            <a:r>
              <a:rPr sz="1600" b="0" dirty="0">
                <a:latin typeface="Comic Sans MS" panose="030F0702030302020204" pitchFamily="66" charset="0"/>
              </a:rPr>
              <a:t>✔  Material Design 3 cu Dark/Light mode</a:t>
            </a:r>
          </a:p>
          <a:p>
            <a:pPr algn="l"/>
            <a:r>
              <a:rPr sz="1600" b="0" dirty="0">
                <a:latin typeface="Comic Sans MS" panose="030F0702030302020204" pitchFamily="66" charset="0"/>
              </a:rPr>
              <a:t>✔  Deploy-ready cu Docker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645920"/>
            <a:ext cx="5303520" cy="475488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latin typeface="Lato"/>
              </a:rPr>
              <a:t>🚀 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31720"/>
            <a:ext cx="4937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latin typeface="Comic Sans MS" panose="030F0702030302020204" pitchFamily="66" charset="0"/>
              </a:rPr>
              <a:t>→  </a:t>
            </a:r>
            <a:r>
              <a:rPr sz="1600" dirty="0" err="1">
                <a:latin typeface="Comic Sans MS" panose="030F0702030302020204" pitchFamily="66" charset="0"/>
              </a:rPr>
              <a:t>Notificări</a:t>
            </a:r>
            <a:r>
              <a:rPr sz="1600" dirty="0">
                <a:latin typeface="Comic Sans MS" panose="030F0702030302020204" pitchFamily="66" charset="0"/>
              </a:rPr>
              <a:t> push (Firebase FCM)</a:t>
            </a:r>
          </a:p>
          <a:p>
            <a:r>
              <a:rPr sz="1600" dirty="0">
                <a:latin typeface="Comic Sans MS" panose="030F0702030302020204" pitchFamily="66" charset="0"/>
              </a:rPr>
              <a:t>→  Widget Android 12 cu </a:t>
            </a:r>
            <a:r>
              <a:rPr sz="1600" dirty="0" err="1">
                <a:latin typeface="Comic Sans MS" panose="030F0702030302020204" pitchFamily="66" charset="0"/>
              </a:rPr>
              <a:t>ultimele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știri</a:t>
            </a:r>
            <a:endParaRPr sz="1600" dirty="0">
              <a:latin typeface="Comic Sans MS" panose="030F0702030302020204" pitchFamily="66" charset="0"/>
            </a:endParaRPr>
          </a:p>
          <a:p>
            <a:r>
              <a:rPr sz="1600" dirty="0">
                <a:latin typeface="Comic Sans MS" panose="030F0702030302020204" pitchFamily="66" charset="0"/>
              </a:rPr>
              <a:t>→  </a:t>
            </a:r>
            <a:r>
              <a:rPr sz="1600" dirty="0" err="1">
                <a:latin typeface="Comic Sans MS" panose="030F0702030302020204" pitchFamily="66" charset="0"/>
              </a:rPr>
              <a:t>Căutare</a:t>
            </a:r>
            <a:r>
              <a:rPr sz="1600" dirty="0">
                <a:latin typeface="Comic Sans MS" panose="030F0702030302020204" pitchFamily="66" charset="0"/>
              </a:rPr>
              <a:t> full-text </a:t>
            </a:r>
            <a:r>
              <a:rPr sz="1600" dirty="0" err="1">
                <a:latin typeface="Comic Sans MS" panose="030F0702030302020204" pitchFamily="66" charset="0"/>
              </a:rPr>
              <a:t>în</a:t>
            </a:r>
            <a:r>
              <a:rPr sz="1600" dirty="0">
                <a:latin typeface="Comic Sans MS" panose="030F0702030302020204" pitchFamily="66" charset="0"/>
              </a:rPr>
              <a:t> </a:t>
            </a:r>
            <a:r>
              <a:rPr sz="1600" dirty="0" err="1">
                <a:latin typeface="Comic Sans MS" panose="030F0702030302020204" pitchFamily="66" charset="0"/>
              </a:rPr>
              <a:t>articolele</a:t>
            </a:r>
            <a:r>
              <a:rPr sz="1600" dirty="0">
                <a:latin typeface="Comic Sans MS" panose="030F0702030302020204" pitchFamily="66" charset="0"/>
              </a:rPr>
              <a:t> locale</a:t>
            </a:r>
          </a:p>
          <a:p>
            <a:r>
              <a:rPr sz="1600" dirty="0">
                <a:latin typeface="Comic Sans MS" panose="030F0702030302020204" pitchFamily="66" charset="0"/>
              </a:rPr>
              <a:t>→  </a:t>
            </a:r>
            <a:r>
              <a:rPr sz="1600" dirty="0" err="1">
                <a:latin typeface="Comic Sans MS" panose="030F0702030302020204" pitchFamily="66" charset="0"/>
              </a:rPr>
              <a:t>Personalizare</a:t>
            </a:r>
            <a:r>
              <a:rPr sz="1600" dirty="0">
                <a:latin typeface="Comic Sans MS" panose="030F0702030302020204" pitchFamily="66" charset="0"/>
              </a:rPr>
              <a:t> feed via ML on-device</a:t>
            </a:r>
          </a:p>
          <a:p>
            <a:r>
              <a:rPr sz="1600" dirty="0">
                <a:latin typeface="Comic Sans MS" panose="030F0702030302020204" pitchFamily="66" charset="0"/>
              </a:rPr>
              <a:t>→  Export / share </a:t>
            </a:r>
            <a:r>
              <a:rPr sz="1600" dirty="0" err="1">
                <a:latin typeface="Comic Sans MS" panose="030F0702030302020204" pitchFamily="66" charset="0"/>
              </a:rPr>
              <a:t>articole</a:t>
            </a:r>
            <a:r>
              <a:rPr sz="1600" dirty="0">
                <a:latin typeface="Comic Sans MS" panose="030F0702030302020204" pitchFamily="66" charset="0"/>
              </a:rPr>
              <a:t> ca PDF</a:t>
            </a:r>
          </a:p>
          <a:p>
            <a:r>
              <a:rPr sz="1600" dirty="0">
                <a:latin typeface="Comic Sans MS" panose="030F0702030302020204" pitchFamily="66" charset="0"/>
              </a:rPr>
              <a:t>→  CI/CD pipeline </a:t>
            </a:r>
            <a:r>
              <a:rPr sz="1600" dirty="0" err="1">
                <a:latin typeface="Comic Sans MS" panose="030F0702030302020204" pitchFamily="66" charset="0"/>
              </a:rPr>
              <a:t>complet</a:t>
            </a:r>
            <a:r>
              <a:rPr sz="1600" dirty="0">
                <a:latin typeface="Comic Sans MS" panose="030F0702030302020204" pitchFamily="66" charset="0"/>
              </a:rPr>
              <a:t> (GitHub Actions)</a:t>
            </a:r>
          </a:p>
          <a:p>
            <a:r>
              <a:rPr sz="1600" dirty="0">
                <a:latin typeface="Comic Sans MS" panose="030F0702030302020204" pitchFamily="66" charset="0"/>
              </a:rPr>
              <a:t>→  </a:t>
            </a:r>
            <a:r>
              <a:rPr sz="1600" dirty="0" err="1">
                <a:latin typeface="Comic Sans MS" panose="030F0702030302020204" pitchFamily="66" charset="0"/>
              </a:rPr>
              <a:t>Versiune</a:t>
            </a:r>
            <a:r>
              <a:rPr sz="1600" dirty="0">
                <a:latin typeface="Comic Sans MS" panose="030F0702030302020204" pitchFamily="66" charset="0"/>
              </a:rPr>
              <a:t> iOS (Kotlin Multiplatform)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00800"/>
            <a:ext cx="103601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000" dirty="0">
                <a:solidFill>
                  <a:srgbClr val="CCFFE0"/>
                </a:solidFill>
                <a:latin typeface="Lato"/>
              </a:rPr>
              <a:t>© 2026 — Design Podut Petru / Podut Tania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1136</Words>
  <Application>Microsoft Office PowerPoint</Application>
  <PresentationFormat>Custom</PresentationFormat>
  <Paragraphs>240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Arial</vt:lpstr>
      <vt:lpstr>Calibri</vt:lpstr>
      <vt:lpstr>Comic Sans MS</vt:lpstr>
      <vt:lpstr>Courier New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Podut</cp:lastModifiedBy>
  <cp:revision>7</cp:revision>
  <dcterms:created xsi:type="dcterms:W3CDTF">2013-01-27T09:14:16Z</dcterms:created>
  <dcterms:modified xsi:type="dcterms:W3CDTF">2026-05-25T10:46:10Z</dcterms:modified>
  <cp:category/>
</cp:coreProperties>
</file>